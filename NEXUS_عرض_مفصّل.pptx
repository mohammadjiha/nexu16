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60020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7452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0" y="31546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&amp; GYM MANAGEMENT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3840480"/>
            <a:ext cx="98142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تفصيلي شامل عن التطبيق ومزاياه وخدماته وبنيته التقنية</a:t>
            </a:r>
            <a:endParaRPr lang="ar-SA" sz="1700" dirty="0"/>
          </a:p>
        </p:txBody>
      </p:sp>
      <p:sp>
        <p:nvSpPr>
          <p:cNvPr id="6" name="Text 4"/>
          <p:cNvSpPr/>
          <p:nvPr/>
        </p:nvSpPr>
        <p:spPr>
          <a:xfrm>
            <a:off x="0" y="59893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 •  الإصدار 1.0  •  عربي + مصطلحات تقنية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العرض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سنغطّي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199339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المنتج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المشكلة، الحل، طريقة العمل، النموذج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17373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4643018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464301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37378" y="199339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الأدوار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4643018" y="260604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متعددة الصالات والصلاحيات والحالات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8097317" y="173736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1637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8371637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5997" y="199339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المزايا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8371637" y="260604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تمرين، تغذية، ذكاء اصطناعي، صحة، مجتمع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40965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الأعمال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7091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المدفوعات، العمولات، لوحات الإدارة</a:t>
            </a:r>
            <a:endParaRPr lang="ar-SA" sz="1200" dirty="0"/>
          </a:p>
        </p:txBody>
      </p:sp>
      <p:sp>
        <p:nvSpPr>
          <p:cNvPr id="25" name="Shape 23"/>
          <p:cNvSpPr/>
          <p:nvPr/>
        </p:nvSpPr>
        <p:spPr>
          <a:xfrm>
            <a:off x="4368698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6" name="Shape 24"/>
          <p:cNvSpPr/>
          <p:nvPr/>
        </p:nvSpPr>
        <p:spPr>
          <a:xfrm>
            <a:off x="464301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301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237378" y="40965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التقنية</a:t>
            </a:r>
            <a:endParaRPr lang="ar-SA" sz="1500" dirty="0"/>
          </a:p>
        </p:txBody>
      </p:sp>
      <p:sp>
        <p:nvSpPr>
          <p:cNvPr id="29" name="Text 27"/>
          <p:cNvSpPr/>
          <p:nvPr/>
        </p:nvSpPr>
        <p:spPr>
          <a:xfrm>
            <a:off x="4643018" y="47091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البنية، الحزم، الـ Backend، الأمان</a:t>
            </a:r>
            <a:endParaRPr lang="ar-SA" sz="1200" dirty="0"/>
          </a:p>
        </p:txBody>
      </p:sp>
      <p:sp>
        <p:nvSpPr>
          <p:cNvPr id="30" name="Shape 28"/>
          <p:cNvSpPr/>
          <p:nvPr/>
        </p:nvSpPr>
        <p:spPr>
          <a:xfrm>
            <a:off x="8097317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31" name="Shape 29"/>
          <p:cNvSpPr/>
          <p:nvPr/>
        </p:nvSpPr>
        <p:spPr>
          <a:xfrm>
            <a:off x="8371637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32" name="Text 30"/>
          <p:cNvSpPr/>
          <p:nvPr/>
        </p:nvSpPr>
        <p:spPr>
          <a:xfrm>
            <a:off x="8371637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965997" y="40965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الجاهزية</a:t>
            </a:r>
            <a:endParaRPr lang="ar-SA" sz="1500" dirty="0"/>
          </a:p>
        </p:txBody>
      </p:sp>
      <p:sp>
        <p:nvSpPr>
          <p:cNvPr id="34" name="Text 32"/>
          <p:cNvSpPr/>
          <p:nvPr/>
        </p:nvSpPr>
        <p:spPr>
          <a:xfrm>
            <a:off x="8371637" y="47091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الأرقام، الميزة التنافسية، خارطة الطريق</a:t>
            </a:r>
            <a:endParaRPr lang="ar-SA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الصالات تُدار بأدوات مبعثرة وغير مترابطة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39112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يدوية</a:t>
            </a:r>
            <a:endParaRPr lang="ar-SA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24328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Excel وأوراق لإدارة الأعضاء والاشتراكات — بطيئة ومعرّضة للخطأ.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9" name="Text 7"/>
          <p:cNvSpPr/>
          <p:nvPr/>
        </p:nvSpPr>
        <p:spPr>
          <a:xfrm>
            <a:off x="6598768" y="2039112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مدفوعات فوضوية</a:t>
            </a:r>
            <a:endParaRPr lang="ar-SA" sz="1700" dirty="0"/>
          </a:p>
        </p:txBody>
      </p:sp>
      <p:sp>
        <p:nvSpPr>
          <p:cNvPr id="10" name="Text 8"/>
          <p:cNvSpPr/>
          <p:nvPr/>
        </p:nvSpPr>
        <p:spPr>
          <a:xfrm>
            <a:off x="6598768" y="2624328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تحصيل وتتبّع الاشتراكات بلا نظام موحّد أو فواتير واضحة.</a:t>
            </a:r>
            <a:endParaRPr lang="ar-SA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096512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متابعة رقمية</a:t>
            </a:r>
            <a:endParaRPr lang="ar-SA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4681728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أدوات تربط المدرّب بالمتدرّب في التدريب والتغذية.</a:t>
            </a:r>
            <a:endParaRPr lang="ar-SA" sz="1300" dirty="0"/>
          </a:p>
        </p:txBody>
      </p:sp>
      <p:sp>
        <p:nvSpPr>
          <p:cNvPr id="14" name="Shape 12"/>
          <p:cNvSpPr/>
          <p:nvPr/>
        </p:nvSpPr>
        <p:spPr>
          <a:xfrm>
            <a:off x="6278728" y="38404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5" name="Text 13"/>
          <p:cNvSpPr/>
          <p:nvPr/>
        </p:nvSpPr>
        <p:spPr>
          <a:xfrm>
            <a:off x="6598768" y="4096512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باهتة</a:t>
            </a:r>
            <a:endParaRPr lang="ar-SA" sz="1700" dirty="0"/>
          </a:p>
        </p:txBody>
      </p:sp>
      <p:sp>
        <p:nvSpPr>
          <p:cNvPr id="16" name="Text 14"/>
          <p:cNvSpPr/>
          <p:nvPr/>
        </p:nvSpPr>
        <p:spPr>
          <a:xfrm>
            <a:off x="6598768" y="4681728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تحفيز ولا ذكاء اصطناعي — المتدرّب يفقد الحماس ويغادر.</a:t>
            </a:r>
            <a:endParaRPr lang="ar-SA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تسرّب أعضاء، وقت ضائع، وإيرادات مفقودة.</a:t>
            </a:r>
            <a:endParaRPr lang="ar-SA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الحلّ: نيكسوس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تحتاجه الصالة وأعضاؤها في تطبيق واحد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56434" cy="3017520"/>
          </a:xfrm>
          <a:prstGeom prst="roundRect">
            <a:avLst>
              <a:gd name="adj" fmla="val 2861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1643977" y="2377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1643977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3154680"/>
            <a:ext cx="22272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657600"/>
            <a:ext cx="2154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أعضاء، اشتراكات، حضور، مالية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3425114" y="2011680"/>
            <a:ext cx="2556434" cy="3017520"/>
          </a:xfrm>
          <a:prstGeom prst="roundRect">
            <a:avLst>
              <a:gd name="adj" fmla="val 2861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4429011" y="2377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4429011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9706" y="3154680"/>
            <a:ext cx="22272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الذكي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3626282" y="3657600"/>
            <a:ext cx="2154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خطط تلقائية وتحليل أداء AI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6210148" y="2011680"/>
            <a:ext cx="2556434" cy="3017520"/>
          </a:xfrm>
          <a:prstGeom prst="roundRect">
            <a:avLst>
              <a:gd name="adj" fmla="val 2861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4045" y="2377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4045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74740" y="3154680"/>
            <a:ext cx="22272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التغذية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6411316" y="3657600"/>
            <a:ext cx="2154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تتبّع، قواعد أطعمة، خطط مخصّصة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8995181" y="2011680"/>
            <a:ext cx="2556434" cy="3017520"/>
          </a:xfrm>
          <a:prstGeom prst="roundRect">
            <a:avLst>
              <a:gd name="adj" fmla="val 2861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9999078" y="23774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9999078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59773" y="3154680"/>
            <a:ext cx="22272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9196349" y="3657600"/>
            <a:ext cx="2154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وعمولات عبر Stripe</a:t>
            </a:r>
            <a:endParaRPr lang="ar-SA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6692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واحدة تربط الإدارة (B2B) بتجربة المتدرّب (B2C) بسلاسة.</a:t>
            </a:r>
            <a:endParaRPr lang="ar-SA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حلقات مترابطة في نظام واحد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55168" y="22860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929488" y="2560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9488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الصالة</a:t>
            </a:r>
            <a:endParaRPr lang="ar-SA" sz="1800" dirty="0"/>
          </a:p>
        </p:txBody>
      </p:sp>
      <p:sp>
        <p:nvSpPr>
          <p:cNvPr id="8" name="Text 6"/>
          <p:cNvSpPr/>
          <p:nvPr/>
        </p:nvSpPr>
        <p:spPr>
          <a:xfrm>
            <a:off x="929488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تُنشأ وتُدار مركزيًا: أعضاء، خطط اشتراك، مالية، وحضور.</a:t>
            </a:r>
            <a:endParaRPr lang="ar-SA" sz="1300" dirty="0"/>
          </a:p>
        </p:txBody>
      </p:sp>
      <p:sp>
        <p:nvSpPr>
          <p:cNvPr id="9" name="Text 7"/>
          <p:cNvSpPr/>
          <p:nvPr/>
        </p:nvSpPr>
        <p:spPr>
          <a:xfrm>
            <a:off x="106528" y="329184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49928" y="22860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26262C"/>
          </a:solidFill>
          <a:ln/>
        </p:spPr>
      </p:sp>
      <p:sp>
        <p:nvSpPr>
          <p:cNvPr id="11" name="Text 9"/>
          <p:cNvSpPr/>
          <p:nvPr/>
        </p:nvSpPr>
        <p:spPr>
          <a:xfrm>
            <a:off x="4724248" y="2560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24248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المدرّب</a:t>
            </a:r>
            <a:endParaRPr lang="ar-SA" sz="1800" dirty="0"/>
          </a:p>
        </p:txBody>
      </p:sp>
      <p:sp>
        <p:nvSpPr>
          <p:cNvPr id="13" name="Text 11"/>
          <p:cNvSpPr/>
          <p:nvPr/>
        </p:nvSpPr>
        <p:spPr>
          <a:xfrm>
            <a:off x="4724248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يتابع لاعبيه، يضبط خطط التغذية، ويراسلهم مباشرة.</a:t>
            </a:r>
            <a:endParaRPr lang="ar-SA" sz="1300" dirty="0"/>
          </a:p>
        </p:txBody>
      </p:sp>
      <p:sp>
        <p:nvSpPr>
          <p:cNvPr id="14" name="Text 12"/>
          <p:cNvSpPr/>
          <p:nvPr/>
        </p:nvSpPr>
        <p:spPr>
          <a:xfrm>
            <a:off x="3901288" y="3291840"/>
            <a:ext cx="594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44688" y="22860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26262C"/>
          </a:solidFill>
          <a:ln/>
        </p:spPr>
      </p:sp>
      <p:sp>
        <p:nvSpPr>
          <p:cNvPr id="16" name="Text 14"/>
          <p:cNvSpPr/>
          <p:nvPr/>
        </p:nvSpPr>
        <p:spPr>
          <a:xfrm>
            <a:off x="8519008" y="2560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519008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المتدرّب</a:t>
            </a:r>
            <a:endParaRPr lang="ar-SA" sz="1800" dirty="0"/>
          </a:p>
        </p:txBody>
      </p:sp>
      <p:sp>
        <p:nvSpPr>
          <p:cNvPr id="18" name="Text 16"/>
          <p:cNvSpPr/>
          <p:nvPr/>
        </p:nvSpPr>
        <p:spPr>
          <a:xfrm>
            <a:off x="8519008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يتدرّب بخطة ذكية، يتتبّع تغذيته، ويُحلَّل أداؤه بالـ AI.</a:t>
            </a:r>
            <a:endParaRPr lang="ar-SA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متعددة الصالات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SaaS — نموذج B2B2C قابل للتوسّع</a:t>
            </a:r>
            <a:endParaRPr lang="ar-SA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115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الصالة هي الكيان المركزي: عدد غير محدود من الصالات تعمل على نفس البنية، لكلٍّ منها أعضاؤها ومدرّبوها وخطّتها المالية المنفصلة.</a:t>
            </a:r>
            <a:endParaRPr lang="ar-SA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2556434" cy="2286000"/>
          </a:xfrm>
          <a:prstGeom prst="roundRect">
            <a:avLst>
              <a:gd name="adj" fmla="val 3200"/>
            </a:avLst>
          </a:prstGeom>
          <a:solidFill>
            <a:srgbClr val="2E2F3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08960"/>
            <a:ext cx="25564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2821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 العام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22821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يدير كل الصالات</a:t>
            </a:r>
            <a:endParaRPr lang="ar-SA" sz="1150" dirty="0"/>
          </a:p>
        </p:txBody>
      </p:sp>
      <p:sp>
        <p:nvSpPr>
          <p:cNvPr id="10" name="Shape 8"/>
          <p:cNvSpPr/>
          <p:nvPr/>
        </p:nvSpPr>
        <p:spPr>
          <a:xfrm>
            <a:off x="3425114" y="2788920"/>
            <a:ext cx="2556434" cy="2286000"/>
          </a:xfrm>
          <a:prstGeom prst="roundRect">
            <a:avLst>
              <a:gd name="adj" fmla="val 3200"/>
            </a:avLst>
          </a:prstGeom>
          <a:solidFill>
            <a:srgbClr val="26262C"/>
          </a:solidFill>
          <a:ln/>
        </p:spPr>
      </p:sp>
      <p:sp>
        <p:nvSpPr>
          <p:cNvPr id="11" name="Text 9"/>
          <p:cNvSpPr/>
          <p:nvPr/>
        </p:nvSpPr>
        <p:spPr>
          <a:xfrm>
            <a:off x="3425114" y="3108960"/>
            <a:ext cx="25564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62274" y="3749040"/>
            <a:ext cx="22821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الصالة</a:t>
            </a:r>
            <a:endParaRPr lang="ar-SA" sz="1500" dirty="0"/>
          </a:p>
        </p:txBody>
      </p:sp>
      <p:sp>
        <p:nvSpPr>
          <p:cNvPr id="13" name="Text 11"/>
          <p:cNvSpPr/>
          <p:nvPr/>
        </p:nvSpPr>
        <p:spPr>
          <a:xfrm>
            <a:off x="3562274" y="4251960"/>
            <a:ext cx="22821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تدير صالة كاملة</a:t>
            </a:r>
            <a:endParaRPr lang="ar-SA" sz="1150" dirty="0"/>
          </a:p>
        </p:txBody>
      </p:sp>
      <p:sp>
        <p:nvSpPr>
          <p:cNvPr id="14" name="Shape 12"/>
          <p:cNvSpPr/>
          <p:nvPr/>
        </p:nvSpPr>
        <p:spPr>
          <a:xfrm>
            <a:off x="6210148" y="2788920"/>
            <a:ext cx="2556434" cy="2286000"/>
          </a:xfrm>
          <a:prstGeom prst="roundRect">
            <a:avLst>
              <a:gd name="adj" fmla="val 3200"/>
            </a:avLst>
          </a:prstGeom>
          <a:solidFill>
            <a:srgbClr val="26262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0148" y="3108960"/>
            <a:ext cx="25564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47308" y="3749040"/>
            <a:ext cx="22821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المدرّب</a:t>
            </a:r>
            <a:endParaRPr lang="ar-SA" sz="1500" dirty="0"/>
          </a:p>
        </p:txBody>
      </p:sp>
      <p:sp>
        <p:nvSpPr>
          <p:cNvPr id="17" name="Text 15"/>
          <p:cNvSpPr/>
          <p:nvPr/>
        </p:nvSpPr>
        <p:spPr>
          <a:xfrm>
            <a:off x="6347308" y="4251960"/>
            <a:ext cx="22821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يتابع لاعبيه</a:t>
            </a:r>
            <a:endParaRPr lang="ar-SA" sz="1150" dirty="0"/>
          </a:p>
        </p:txBody>
      </p:sp>
      <p:sp>
        <p:nvSpPr>
          <p:cNvPr id="18" name="Shape 16"/>
          <p:cNvSpPr/>
          <p:nvPr/>
        </p:nvSpPr>
        <p:spPr>
          <a:xfrm>
            <a:off x="8995181" y="2788920"/>
            <a:ext cx="2556434" cy="2286000"/>
          </a:xfrm>
          <a:prstGeom prst="roundRect">
            <a:avLst>
              <a:gd name="adj" fmla="val 3200"/>
            </a:avLst>
          </a:prstGeom>
          <a:solidFill>
            <a:srgbClr val="26262C"/>
          </a:solidFill>
          <a:ln/>
        </p:spPr>
      </p:sp>
      <p:sp>
        <p:nvSpPr>
          <p:cNvPr id="19" name="Text 17"/>
          <p:cNvSpPr/>
          <p:nvPr/>
        </p:nvSpPr>
        <p:spPr>
          <a:xfrm>
            <a:off x="8995181" y="3108960"/>
            <a:ext cx="25564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32341" y="3749040"/>
            <a:ext cx="22821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المتدرّب</a:t>
            </a:r>
            <a:endParaRPr lang="ar-SA" sz="1500" dirty="0"/>
          </a:p>
        </p:txBody>
      </p:sp>
      <p:sp>
        <p:nvSpPr>
          <p:cNvPr id="21" name="Text 19"/>
          <p:cNvSpPr/>
          <p:nvPr/>
        </p:nvSpPr>
        <p:spPr>
          <a:xfrm>
            <a:off x="9132341" y="4251960"/>
            <a:ext cx="228211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 النهائي</a:t>
            </a:r>
            <a:endParaRPr lang="ar-SA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الأدوار والصلاحيات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يُدار مركزيًا عبر AppRole وحُرّاس GoRouter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4023360"/>
          </a:xfrm>
          <a:prstGeom prst="roundRect">
            <a:avLst>
              <a:gd name="adj" fmla="val 1818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8259775" y="19933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الرمز التقني</a:t>
            </a:r>
            <a:endParaRPr lang="ar-SA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7071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الصلاحية</a:t>
            </a:r>
            <a:endParaRPr lang="ar-SA" sz="1300" dirty="0"/>
          </a:p>
        </p:txBody>
      </p:sp>
      <p:sp>
        <p:nvSpPr>
          <p:cNvPr id="8" name="Text 6"/>
          <p:cNvSpPr/>
          <p:nvPr/>
        </p:nvSpPr>
        <p:spPr>
          <a:xfrm>
            <a:off x="8259775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super_admin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7071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المشرف العام — أعلى صلاحية، يُضبط يدويًا</a:t>
            </a:r>
            <a:endParaRPr lang="ar-SA" sz="1300" dirty="0"/>
          </a:p>
        </p:txBody>
      </p:sp>
      <p:sp>
        <p:nvSpPr>
          <p:cNvPr id="10" name="Text 8"/>
          <p:cNvSpPr/>
          <p:nvPr/>
        </p:nvSpPr>
        <p:spPr>
          <a:xfrm>
            <a:off x="8259775" y="3355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/ admin / gym_admin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355848"/>
            <a:ext cx="7071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صالة واحدة بالكامل</a:t>
            </a:r>
            <a:endParaRPr lang="ar-SA" sz="1300" dirty="0"/>
          </a:p>
        </p:txBody>
      </p:sp>
      <p:sp>
        <p:nvSpPr>
          <p:cNvPr id="12" name="Text 10"/>
          <p:cNvSpPr/>
          <p:nvPr/>
        </p:nvSpPr>
        <p:spPr>
          <a:xfrm>
            <a:off x="8259775" y="41056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105656"/>
            <a:ext cx="7071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المدرّب — متابعة لاعبيه وضبط خططهم</a:t>
            </a:r>
            <a:endParaRPr lang="ar-SA" sz="1300" dirty="0"/>
          </a:p>
        </p:txBody>
      </p:sp>
      <p:sp>
        <p:nvSpPr>
          <p:cNvPr id="14" name="Text 12"/>
          <p:cNvSpPr/>
          <p:nvPr/>
        </p:nvSpPr>
        <p:spPr>
          <a:xfrm>
            <a:off x="8259775" y="485546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4855464"/>
            <a:ext cx="7071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المتدرّب — عضو الصالة (المستخدم النهائي)</a:t>
            </a:r>
            <a:endParaRPr lang="ar-SA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حالات الحساب الذكية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يتفاعل النظام لحظيًا مع كل حالة بشاشة مخصّصة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منتهٍ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expired — يُحجب المحتوى حتى التجديد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6507328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01688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موقوف / مجمّد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suspended / frozen — بقرار من الإدارة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صالة غير مفعّلة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inactive — توقف كل أعضائها تلقائيًا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732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1688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مرور مؤقتة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6507328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إجبار المتدرّب على تغييرها عند أول دخول</a:t>
            </a:r>
            <a:endParaRPr lang="ar-SA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المزايا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 منظومات متكاملة داخل التطبيق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التمرين الذكي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خطط تلقائية، جلسات نشطة، تتبّع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17830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4643018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464301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37378" y="20391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التغذية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4643018" y="26517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أطعمة وتتبّع وخطط مخصّصة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8097317" y="17830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1637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8371637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5997" y="20391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8371637" y="26517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أداء وطعام وقياسات الجسم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40965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الأجهزة الصحية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7091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Apple/Google Health و BLE</a:t>
            </a:r>
            <a:endParaRPr lang="ar-SA" sz="1200" dirty="0"/>
          </a:p>
        </p:txBody>
      </p:sp>
      <p:sp>
        <p:nvSpPr>
          <p:cNvPr id="25" name="Shape 23"/>
          <p:cNvSpPr/>
          <p:nvPr/>
        </p:nvSpPr>
        <p:spPr>
          <a:xfrm>
            <a:off x="4368698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6" name="Shape 24"/>
          <p:cNvSpPr/>
          <p:nvPr/>
        </p:nvSpPr>
        <p:spPr>
          <a:xfrm>
            <a:off x="464301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301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237378" y="40965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المجتمع والتحفيز</a:t>
            </a:r>
            <a:endParaRPr lang="ar-SA" sz="1500" dirty="0"/>
          </a:p>
        </p:txBody>
      </p:sp>
      <p:sp>
        <p:nvSpPr>
          <p:cNvPr id="29" name="Text 27"/>
          <p:cNvSpPr/>
          <p:nvPr/>
        </p:nvSpPr>
        <p:spPr>
          <a:xfrm>
            <a:off x="4643018" y="47091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منشورات، تحدّيات، كؤوس وجوائز</a:t>
            </a:r>
            <a:endParaRPr lang="ar-SA" sz="1200" dirty="0"/>
          </a:p>
        </p:txBody>
      </p:sp>
      <p:sp>
        <p:nvSpPr>
          <p:cNvPr id="30" name="Shape 28"/>
          <p:cNvSpPr/>
          <p:nvPr/>
        </p:nvSpPr>
        <p:spPr>
          <a:xfrm>
            <a:off x="8097317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31" name="Shape 29"/>
          <p:cNvSpPr/>
          <p:nvPr/>
        </p:nvSpPr>
        <p:spPr>
          <a:xfrm>
            <a:off x="8371637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32" name="Text 30"/>
          <p:cNvSpPr/>
          <p:nvPr/>
        </p:nvSpPr>
        <p:spPr>
          <a:xfrm>
            <a:off x="8371637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965997" y="40965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</a:t>
            </a:r>
            <a:endParaRPr lang="ar-SA" sz="1500" dirty="0"/>
          </a:p>
        </p:txBody>
      </p:sp>
      <p:sp>
        <p:nvSpPr>
          <p:cNvPr id="34" name="Text 32"/>
          <p:cNvSpPr/>
          <p:nvPr/>
        </p:nvSpPr>
        <p:spPr>
          <a:xfrm>
            <a:off x="8371637" y="47091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وعمولات وفواتير</a:t>
            </a:r>
            <a:endParaRPr lang="ar-SA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التمرين الذكي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Workout — من الخطة إلى التنفيذ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4907128" y="2011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 التقسيمة</a:t>
            </a:r>
            <a:endParaRPr lang="ar-SA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أيامك ونوع التقسيمة (مثل Push/Pull/Legs) فتُبنى الخطة تلقائيًا.</a:t>
            </a:r>
            <a:endParaRPr lang="ar-SA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7830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0" name="Text 8"/>
          <p:cNvSpPr/>
          <p:nvPr/>
        </p:nvSpPr>
        <p:spPr>
          <a:xfrm>
            <a:off x="10545775" y="2011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98768" y="205740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مولّد الخطط</a:t>
            </a:r>
            <a:endParaRPr lang="ar-SA" sz="1600" dirty="0"/>
          </a:p>
        </p:txBody>
      </p:sp>
      <p:sp>
        <p:nvSpPr>
          <p:cNvPr id="12" name="Text 10"/>
          <p:cNvSpPr/>
          <p:nvPr/>
        </p:nvSpPr>
        <p:spPr>
          <a:xfrm>
            <a:off x="6598768" y="265176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PlanGenerator يبني برنامجًا أسبوعيًا من كتالوج تمارين غني.</a:t>
            </a:r>
            <a:endParaRPr lang="ar-SA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4" name="Text 12"/>
          <p:cNvSpPr/>
          <p:nvPr/>
        </p:nvSpPr>
        <p:spPr>
          <a:xfrm>
            <a:off x="4907128" y="4069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411480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الجلسة النشطة</a:t>
            </a:r>
            <a:endParaRPr lang="ar-SA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المجموعات والأوزان لحظيًا أثناء التمرين.</a:t>
            </a:r>
            <a:endParaRPr lang="ar-SA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38404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8" name="Text 16"/>
          <p:cNvSpPr/>
          <p:nvPr/>
        </p:nvSpPr>
        <p:spPr>
          <a:xfrm>
            <a:off x="10545775" y="4069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3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98768" y="411480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المرونة</a:t>
            </a:r>
            <a:endParaRPr lang="ar-SA" sz="1600" dirty="0"/>
          </a:p>
        </p:txBody>
      </p:sp>
      <p:sp>
        <p:nvSpPr>
          <p:cNvPr id="20" name="Text 18"/>
          <p:cNvSpPr/>
          <p:nvPr/>
        </p:nvSpPr>
        <p:spPr>
          <a:xfrm>
            <a:off x="6598768" y="4709160"/>
            <a:ext cx="46328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سريع، استبدال التمارين، وسجل تدريبي كامل.</a:t>
            </a:r>
            <a:endParaRPr lang="ar-SA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التمرين الذكي — تحت الغطاء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تُبنى الخطة وتُنفَّذ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72888" cy="4114800"/>
          </a:xfrm>
          <a:prstGeom prst="roundRect">
            <a:avLst>
              <a:gd name="adj" fmla="val 1778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الخطة</a:t>
            </a:r>
            <a:endParaRPr lang="ar-SA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تحديد أيام التمرين الأسبوعية</a:t>
            </a:r>
            <a:endParaRPr lang="ar-SA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اختيار نوع التقسيمة (Split)</a:t>
            </a:r>
            <a:endParaRPr lang="ar-SA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توزيع المجموعات العضلية على الأيام</a:t>
            </a:r>
            <a:endParaRPr lang="ar-SA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25196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سحب تمارين مناسبة من الكتالوج</a:t>
            </a:r>
            <a:endParaRPr lang="ar-SA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80060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قابلية تبديل أي تمرين ببديل</a:t>
            </a:r>
            <a:endParaRPr lang="ar-SA" sz="1250" dirty="0"/>
          </a:p>
        </p:txBody>
      </p:sp>
      <p:sp>
        <p:nvSpPr>
          <p:cNvPr id="12" name="Shape 10"/>
          <p:cNvSpPr/>
          <p:nvPr/>
        </p:nvSpPr>
        <p:spPr>
          <a:xfrm>
            <a:off x="6278728" y="1783080"/>
            <a:ext cx="5272888" cy="4114800"/>
          </a:xfrm>
          <a:prstGeom prst="roundRect">
            <a:avLst>
              <a:gd name="adj" fmla="val 1778"/>
            </a:avLst>
          </a:prstGeom>
          <a:solidFill>
            <a:srgbClr val="2E2F36"/>
          </a:solidFill>
          <a:ln/>
        </p:spPr>
      </p:sp>
      <p:sp>
        <p:nvSpPr>
          <p:cNvPr id="13" name="Text 11"/>
          <p:cNvSpPr/>
          <p:nvPr/>
        </p:nvSpPr>
        <p:spPr>
          <a:xfrm>
            <a:off x="6644488" y="201168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أثناء التمرين</a:t>
            </a:r>
            <a:endParaRPr lang="ar-SA" sz="1700" dirty="0"/>
          </a:p>
        </p:txBody>
      </p:sp>
      <p:sp>
        <p:nvSpPr>
          <p:cNvPr id="14" name="Text 12"/>
          <p:cNvSpPr/>
          <p:nvPr/>
        </p:nvSpPr>
        <p:spPr>
          <a:xfrm>
            <a:off x="6644488" y="260604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جلسة نشطة لتسجيل كل مجموعة ووزن</a:t>
            </a:r>
            <a:endParaRPr lang="ar-SA" sz="1250" dirty="0"/>
          </a:p>
        </p:txBody>
      </p:sp>
      <p:sp>
        <p:nvSpPr>
          <p:cNvPr id="15" name="Text 13"/>
          <p:cNvSpPr/>
          <p:nvPr/>
        </p:nvSpPr>
        <p:spPr>
          <a:xfrm>
            <a:off x="6644488" y="315468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تسجيل سريع (Quick Log)</a:t>
            </a:r>
            <a:endParaRPr lang="ar-SA" sz="1250" dirty="0"/>
          </a:p>
        </p:txBody>
      </p:sp>
      <p:sp>
        <p:nvSpPr>
          <p:cNvPr id="16" name="Text 14"/>
          <p:cNvSpPr/>
          <p:nvPr/>
        </p:nvSpPr>
        <p:spPr>
          <a:xfrm>
            <a:off x="6644488" y="370332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حفظ السجل في workoutHistory</a:t>
            </a:r>
            <a:endParaRPr lang="ar-SA" sz="1250" dirty="0"/>
          </a:p>
        </p:txBody>
      </p:sp>
      <p:sp>
        <p:nvSpPr>
          <p:cNvPr id="17" name="Text 15"/>
          <p:cNvSpPr/>
          <p:nvPr/>
        </p:nvSpPr>
        <p:spPr>
          <a:xfrm>
            <a:off x="6644488" y="425196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مكافأة آلية بالكؤوس عند الإنجاز</a:t>
            </a:r>
            <a:endParaRPr lang="ar-SA" sz="1250" dirty="0"/>
          </a:p>
        </p:txBody>
      </p:sp>
      <p:sp>
        <p:nvSpPr>
          <p:cNvPr id="18" name="Text 16"/>
          <p:cNvSpPr/>
          <p:nvPr/>
        </p:nvSpPr>
        <p:spPr>
          <a:xfrm>
            <a:off x="6644488" y="480060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عرض تقدّم اللاعب للمدرّب</a:t>
            </a:r>
            <a:endParaRPr lang="ar-SA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التغذية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وحدة في التطبيق — 16 شاشة متكاملة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4160520"/>
          </a:xfrm>
          <a:prstGeom prst="roundRect">
            <a:avLst>
              <a:gd name="adj" fmla="val 1758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10911535" y="2185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10911535" y="2167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9722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أطعمة ضخمة (عشرات الآلاف من الأصناف بالعربية والإنجليزية)</a:t>
            </a:r>
            <a:endParaRPr lang="ar-SA" sz="1400" dirty="0"/>
          </a:p>
        </p:txBody>
      </p:sp>
      <p:sp>
        <p:nvSpPr>
          <p:cNvPr id="9" name="Shape 7"/>
          <p:cNvSpPr/>
          <p:nvPr/>
        </p:nvSpPr>
        <p:spPr>
          <a:xfrm>
            <a:off x="10911535" y="293522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0" name="Text 8"/>
          <p:cNvSpPr/>
          <p:nvPr/>
        </p:nvSpPr>
        <p:spPr>
          <a:xfrm>
            <a:off x="10911535" y="29169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852928"/>
            <a:ext cx="9722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وتتبّع الوجبات وخطة وجبات يومية</a:t>
            </a:r>
            <a:endParaRPr lang="ar-SA" sz="1400" dirty="0"/>
          </a:p>
        </p:txBody>
      </p:sp>
      <p:sp>
        <p:nvSpPr>
          <p:cNvPr id="12" name="Shape 10"/>
          <p:cNvSpPr/>
          <p:nvPr/>
        </p:nvSpPr>
        <p:spPr>
          <a:xfrm>
            <a:off x="10911535" y="36850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11535" y="3666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602736"/>
            <a:ext cx="9722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قوالب جاهزة (Templates) وبناء وجبة مخصّصة</a:t>
            </a:r>
            <a:endParaRPr lang="ar-SA" sz="1400" dirty="0"/>
          </a:p>
        </p:txBody>
      </p:sp>
      <p:sp>
        <p:nvSpPr>
          <p:cNvPr id="15" name="Shape 13"/>
          <p:cNvSpPr/>
          <p:nvPr/>
        </p:nvSpPr>
        <p:spPr>
          <a:xfrm>
            <a:off x="10911535" y="4434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11535" y="4416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352544"/>
            <a:ext cx="9722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متعقّب المكمّلات الغذائية وتوقيت الوجبات</a:t>
            </a:r>
            <a:endParaRPr lang="ar-SA" sz="1400" dirty="0"/>
          </a:p>
        </p:txBody>
      </p:sp>
      <p:sp>
        <p:nvSpPr>
          <p:cNvPr id="18" name="Shape 16"/>
          <p:cNvSpPr/>
          <p:nvPr/>
        </p:nvSpPr>
        <p:spPr>
          <a:xfrm>
            <a:off x="10911535" y="51846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11535" y="5166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5102352"/>
            <a:ext cx="9722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تغذية يضبطها المدرّب لكل لاعب</a:t>
            </a:r>
            <a:endParaRPr lang="ar-SA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التغذية — تجربة متكاملة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تتبّع السعرات إلى خطة المدرّب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تتبّع يومي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الوجبات والسعرات والماكروز مع سجل يومي (daily_nutrition).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6507328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01688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قوالب وخطط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قوالب جاهزة قابلة للتطبيق، أو بناء خطتك الخاصة خطوة بخطوة.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المكمّلات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روتين مكمّلات غذائية مع تذكيرات ومتابعة الالتزام.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732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1688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إشراف المدرّب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6507328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المدرّب يضبط خطة تغذية مخصّصة لكل لاعب ويتابع تنفيذها.</a:t>
            </a:r>
            <a:endParaRPr lang="ar-SA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— ميزتنا الأبرز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مدعوم بنموذج Google Gemini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09448" y="21031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E2F36"/>
          </a:solidFill>
          <a:ln/>
        </p:spPr>
      </p:sp>
      <p:sp>
        <p:nvSpPr>
          <p:cNvPr id="6" name="Text 4"/>
          <p:cNvSpPr/>
          <p:nvPr/>
        </p:nvSpPr>
        <p:spPr>
          <a:xfrm>
            <a:off x="883768" y="2377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3768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أداء التمرين</a:t>
            </a:r>
            <a:endParaRPr lang="ar-SA" sz="1600" dirty="0"/>
          </a:p>
        </p:txBody>
      </p:sp>
      <p:sp>
        <p:nvSpPr>
          <p:cNvPr id="8" name="Text 6"/>
          <p:cNvSpPr/>
          <p:nvPr/>
        </p:nvSpPr>
        <p:spPr>
          <a:xfrm>
            <a:off x="883768" y="37033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فيديو لأدائك ← تحليل بيوميكانيكي صريح للأخطاء وبدائل أأمن.</a:t>
            </a:r>
            <a:endParaRPr lang="ar-SA" sz="1250" dirty="0"/>
          </a:p>
        </p:txBody>
      </p:sp>
      <p:sp>
        <p:nvSpPr>
          <p:cNvPr id="9" name="Shape 7"/>
          <p:cNvSpPr/>
          <p:nvPr/>
        </p:nvSpPr>
        <p:spPr>
          <a:xfrm>
            <a:off x="4404208" y="21031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E2F36"/>
          </a:solidFill>
          <a:ln/>
        </p:spPr>
      </p:sp>
      <p:sp>
        <p:nvSpPr>
          <p:cNvPr id="10" name="Text 8"/>
          <p:cNvSpPr/>
          <p:nvPr/>
        </p:nvSpPr>
        <p:spPr>
          <a:xfrm>
            <a:off x="4678528" y="2377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78528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ماسح الطعام</a:t>
            </a:r>
            <a:endParaRPr lang="ar-SA" sz="1600" dirty="0"/>
          </a:p>
        </p:txBody>
      </p:sp>
      <p:sp>
        <p:nvSpPr>
          <p:cNvPr id="12" name="Text 10"/>
          <p:cNvSpPr/>
          <p:nvPr/>
        </p:nvSpPr>
        <p:spPr>
          <a:xfrm>
            <a:off x="4678528" y="37033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لوجبتك ← تعرّف تلقائي وتقدير السعرات والماكروز.</a:t>
            </a:r>
            <a:endParaRPr lang="ar-SA" sz="1250" dirty="0"/>
          </a:p>
        </p:txBody>
      </p:sp>
      <p:sp>
        <p:nvSpPr>
          <p:cNvPr id="13" name="Shape 11"/>
          <p:cNvSpPr/>
          <p:nvPr/>
        </p:nvSpPr>
        <p:spPr>
          <a:xfrm>
            <a:off x="8198968" y="21031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E2F36"/>
          </a:solidFill>
          <a:ln/>
        </p:spPr>
      </p:sp>
      <p:sp>
        <p:nvSpPr>
          <p:cNvPr id="14" name="Text 12"/>
          <p:cNvSpPr/>
          <p:nvPr/>
        </p:nvSpPr>
        <p:spPr>
          <a:xfrm>
            <a:off x="8473288" y="2377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73288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قياسات الجسم</a:t>
            </a:r>
            <a:endParaRPr lang="ar-SA" sz="1600" dirty="0"/>
          </a:p>
        </p:txBody>
      </p:sp>
      <p:sp>
        <p:nvSpPr>
          <p:cNvPr id="16" name="Text 14"/>
          <p:cNvSpPr/>
          <p:nvPr/>
        </p:nvSpPr>
        <p:spPr>
          <a:xfrm>
            <a:off x="8473288" y="37033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تقرير InBody ← استخراج الوزن والدهون والكتلة آليًا.</a:t>
            </a:r>
            <a:endParaRPr lang="ar-SA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بصيغة JSON منظّمة، والمفاتيح تُدار عن بُعد عبر Remote Config.</a:t>
            </a:r>
            <a:endParaRPr lang="ar-SA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تحليل أداء التمرين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مدرّب آلي صارم يحلّل حركتك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72888" cy="4114800"/>
          </a:xfrm>
          <a:prstGeom prst="roundRect">
            <a:avLst>
              <a:gd name="adj" fmla="val 1778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</a:t>
            </a:r>
            <a:endParaRPr lang="ar-SA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يصوّر المتدرّب فيديو لأدائه</a:t>
            </a:r>
            <a:endParaRPr lang="ar-SA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يُرسل للنموذج مع مستوى خبرته</a:t>
            </a:r>
            <a:endParaRPr lang="ar-SA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تحليل بيوميكانيكي لكل حركة</a:t>
            </a:r>
            <a:endParaRPr lang="ar-SA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25196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رصد الأخطاء وزوايا الجسم</a:t>
            </a:r>
            <a:endParaRPr lang="ar-SA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80060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توصية ببدائل أأمن حسب المستوى</a:t>
            </a:r>
            <a:endParaRPr lang="ar-SA" sz="1250" dirty="0"/>
          </a:p>
        </p:txBody>
      </p:sp>
      <p:sp>
        <p:nvSpPr>
          <p:cNvPr id="12" name="Shape 10"/>
          <p:cNvSpPr/>
          <p:nvPr/>
        </p:nvSpPr>
        <p:spPr>
          <a:xfrm>
            <a:off x="6278728" y="1783080"/>
            <a:ext cx="5272888" cy="4114800"/>
          </a:xfrm>
          <a:prstGeom prst="roundRect">
            <a:avLst>
              <a:gd name="adj" fmla="val 1778"/>
            </a:avLst>
          </a:prstGeom>
          <a:solidFill>
            <a:srgbClr val="2E2F36"/>
          </a:solidFill>
          <a:ln/>
        </p:spPr>
      </p:sp>
      <p:sp>
        <p:nvSpPr>
          <p:cNvPr id="13" name="Text 11"/>
          <p:cNvSpPr/>
          <p:nvPr/>
        </p:nvSpPr>
        <p:spPr>
          <a:xfrm>
            <a:off x="6644488" y="201168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أوضاع متعددة</a:t>
            </a:r>
            <a:endParaRPr lang="ar-SA" sz="1700" dirty="0"/>
          </a:p>
        </p:txBody>
      </p:sp>
      <p:sp>
        <p:nvSpPr>
          <p:cNvPr id="14" name="Text 12"/>
          <p:cNvSpPr/>
          <p:nvPr/>
        </p:nvSpPr>
        <p:spPr>
          <a:xfrm>
            <a:off x="6644488" y="260604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وضع مباشر (Live)</a:t>
            </a:r>
            <a:endParaRPr lang="ar-SA" sz="1250" dirty="0"/>
          </a:p>
        </p:txBody>
      </p:sp>
      <p:sp>
        <p:nvSpPr>
          <p:cNvPr id="15" name="Text 13"/>
          <p:cNvSpPr/>
          <p:nvPr/>
        </p:nvSpPr>
        <p:spPr>
          <a:xfrm>
            <a:off x="6644488" y="315468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محادثة مع المدرّب الآلي</a:t>
            </a:r>
            <a:endParaRPr lang="ar-SA" sz="1250" dirty="0"/>
          </a:p>
        </p:txBody>
      </p:sp>
      <p:sp>
        <p:nvSpPr>
          <p:cNvPr id="16" name="Text 14"/>
          <p:cNvSpPr/>
          <p:nvPr/>
        </p:nvSpPr>
        <p:spPr>
          <a:xfrm>
            <a:off x="6644488" y="370332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تقرير مفصّل بالنتائج</a:t>
            </a:r>
            <a:endParaRPr lang="ar-SA" sz="1250" dirty="0"/>
          </a:p>
        </p:txBody>
      </p:sp>
      <p:sp>
        <p:nvSpPr>
          <p:cNvPr id="17" name="Text 15"/>
          <p:cNvSpPr/>
          <p:nvPr/>
        </p:nvSpPr>
        <p:spPr>
          <a:xfrm>
            <a:off x="6644488" y="425196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تكامل مع ML Kit لكشف الوضعية</a:t>
            </a:r>
            <a:endParaRPr lang="ar-SA" sz="1250" dirty="0"/>
          </a:p>
        </p:txBody>
      </p:sp>
      <p:sp>
        <p:nvSpPr>
          <p:cNvPr id="18" name="Text 16"/>
          <p:cNvSpPr/>
          <p:nvPr/>
        </p:nvSpPr>
        <p:spPr>
          <a:xfrm>
            <a:off x="6644488" y="4800600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ملاحظات قابلة للحفظ والمتابعة</a:t>
            </a:r>
            <a:endParaRPr lang="ar-SA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الطعام وقياسات الجسم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الصورة إلى بيانات دقيقة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3383280"/>
          </a:xfrm>
          <a:prstGeom prst="roundRect">
            <a:avLst>
              <a:gd name="adj" fmla="val 2162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128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12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ماسح الطعام</a:t>
            </a:r>
            <a:endParaRPr lang="ar-SA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463280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التقاط صورة الوجبة، التعرّف على الصنف، وتقدير الوزن والسعرات والبروتين والكارب والدهون — تلقائيًا بصيغة JSON.</a:t>
            </a:r>
            <a:endParaRPr lang="ar-SA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1920240"/>
            <a:ext cx="5272888" cy="3383280"/>
          </a:xfrm>
          <a:prstGeom prst="roundRect">
            <a:avLst>
              <a:gd name="adj" fmla="val 2162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6598768" y="22128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598768" y="2212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98768" y="3017520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InBody</a:t>
            </a:r>
            <a:endParaRPr lang="ar-SA" sz="1700" dirty="0"/>
          </a:p>
        </p:txBody>
      </p:sp>
      <p:sp>
        <p:nvSpPr>
          <p:cNvPr id="14" name="Text 12"/>
          <p:cNvSpPr/>
          <p:nvPr/>
        </p:nvSpPr>
        <p:spPr>
          <a:xfrm>
            <a:off x="6598768" y="3611880"/>
            <a:ext cx="463280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صورة/ملف تقرير قياس تكوين الجسم (InBody/TANITA) واستخراج الوزن، نسبة الدهون، الكتلة العضلية، الماء، معدّل الأيض، والعمر الأيضي.</a:t>
            </a:r>
            <a:endParaRPr lang="ar-SA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الأجهزة الصحية والقابلة للارتداء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Wearables Integration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/ Google Health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النبض، الخطوات، النوم، والطاقة المحروقة.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6507328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01688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أجهزة Bluetooth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الاتصال بأجهزة BLE عبر flutter_blue_plus.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الأجهزة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موحّد لبيانات الصحة والأجهزة المتصلة.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732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1688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التعافي والنبض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6507328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شاشات تفصيلية لمعدّل القلب ومؤشّر التعافي.</a:t>
            </a:r>
            <a:endParaRPr lang="ar-SA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المجتمع والتحفيز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طبقات تزيد الالتزام والاحتفاظ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09448" y="21031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883768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83768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المجتمع</a:t>
            </a:r>
            <a:endParaRPr lang="ar-SA" sz="1600" dirty="0"/>
          </a:p>
        </p:txBody>
      </p:sp>
      <p:sp>
        <p:nvSpPr>
          <p:cNvPr id="8" name="Text 6"/>
          <p:cNvSpPr/>
          <p:nvPr/>
        </p:nvSpPr>
        <p:spPr>
          <a:xfrm>
            <a:off x="883768" y="3657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منشورات وتعليقات وإعجابات وتحدّيات (Challenges) داخل التطبيق تبني روح الجماعة.</a:t>
            </a:r>
            <a:endParaRPr lang="ar-SA" sz="1250" dirty="0"/>
          </a:p>
        </p:txBody>
      </p:sp>
      <p:sp>
        <p:nvSpPr>
          <p:cNvPr id="9" name="Shape 7"/>
          <p:cNvSpPr/>
          <p:nvPr/>
        </p:nvSpPr>
        <p:spPr>
          <a:xfrm>
            <a:off x="4404208" y="21031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6262C"/>
          </a:solidFill>
          <a:ln/>
        </p:spPr>
      </p:sp>
      <p:sp>
        <p:nvSpPr>
          <p:cNvPr id="10" name="Text 8"/>
          <p:cNvSpPr/>
          <p:nvPr/>
        </p:nvSpPr>
        <p:spPr>
          <a:xfrm>
            <a:off x="4678528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♚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78528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التلعيب</a:t>
            </a:r>
            <a:endParaRPr lang="ar-SA" sz="1600" dirty="0"/>
          </a:p>
        </p:txBody>
      </p:sp>
      <p:sp>
        <p:nvSpPr>
          <p:cNvPr id="12" name="Text 10"/>
          <p:cNvSpPr/>
          <p:nvPr/>
        </p:nvSpPr>
        <p:spPr>
          <a:xfrm>
            <a:off x="4678528" y="3657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كؤوس وجوائز (Trophies / Cups) يكافئ الإنجاز مع أنيميشن احتفالي.</a:t>
            </a:r>
            <a:endParaRPr lang="ar-SA" sz="1250" dirty="0"/>
          </a:p>
        </p:txBody>
      </p:sp>
      <p:sp>
        <p:nvSpPr>
          <p:cNvPr id="13" name="Shape 11"/>
          <p:cNvSpPr/>
          <p:nvPr/>
        </p:nvSpPr>
        <p:spPr>
          <a:xfrm>
            <a:off x="8198968" y="21031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26262C"/>
          </a:solidFill>
          <a:ln/>
        </p:spPr>
      </p:sp>
      <p:sp>
        <p:nvSpPr>
          <p:cNvPr id="14" name="Text 12"/>
          <p:cNvSpPr/>
          <p:nvPr/>
        </p:nvSpPr>
        <p:spPr>
          <a:xfrm>
            <a:off x="8473288" y="23591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73288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البشري</a:t>
            </a:r>
            <a:endParaRPr lang="ar-SA" sz="1600" dirty="0"/>
          </a:p>
        </p:txBody>
      </p:sp>
      <p:sp>
        <p:nvSpPr>
          <p:cNvPr id="16" name="Text 14"/>
          <p:cNvSpPr/>
          <p:nvPr/>
        </p:nvSpPr>
        <p:spPr>
          <a:xfrm>
            <a:off x="8473288" y="36576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قناة مراسلة مباشرة بين المتدرّب ومدرّبه إلى جانب المدرّب الآلي.</a:t>
            </a:r>
            <a:endParaRPr lang="ar-SA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 والاشتراكات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PaymentSheet — آمن وسلس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اشتراكات الأعضاء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دخل متكرّر يدفعه المتدرّب عبر واجهة دفع جاهزة وآمنة.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6507328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01688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خطط متعددة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تديرها الصالة (Subscription Plans) بمرونة.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تنفيذ على الخادم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العمليات الحسّاسة عبر Cloud Functions لا على الجهاز.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732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1688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آلي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6507328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createPayment / verifyPayment لإغلاق الدورة بأمان.</a:t>
            </a:r>
            <a:endParaRPr lang="ar-SA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العمولات والفواتير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مالية للمدرّبين والمنصّة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عمولات المدرّبين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احتساب وتتبّع عمولات على الاشتراكات.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6507328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01688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مدفوعات جماعية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createBulkCommissionPayment لتسوية دفعات متعددة.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رصيد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addCommissionCredit و saveCreditInvoice.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732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1688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فواتير PDF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6507328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فواتير داخل التطبيق وفواتير المشرف العام.</a:t>
            </a:r>
            <a:endParaRPr lang="ar-SA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إدارة الصالة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— تشغيل الصالة بالكامل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4160520"/>
          </a:xfrm>
          <a:prstGeom prst="roundRect">
            <a:avLst>
              <a:gd name="adj" fmla="val 1758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11094415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11094415" y="2130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78728" y="207568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 وإدارة الأعضاء</a:t>
            </a:r>
            <a:endParaRPr lang="ar-SA" sz="1350" dirty="0"/>
          </a:p>
        </p:txBody>
      </p:sp>
      <p:sp>
        <p:nvSpPr>
          <p:cNvPr id="9" name="Shape 7"/>
          <p:cNvSpPr/>
          <p:nvPr/>
        </p:nvSpPr>
        <p:spPr>
          <a:xfrm>
            <a:off x="5821528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0" name="Text 8"/>
          <p:cNvSpPr/>
          <p:nvPr/>
        </p:nvSpPr>
        <p:spPr>
          <a:xfrm>
            <a:off x="5821528" y="2130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7568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الحضور (Check-in)</a:t>
            </a:r>
            <a:endParaRPr lang="ar-SA" sz="1350" dirty="0"/>
          </a:p>
        </p:txBody>
      </p:sp>
      <p:sp>
        <p:nvSpPr>
          <p:cNvPr id="12" name="Shape 10"/>
          <p:cNvSpPr/>
          <p:nvPr/>
        </p:nvSpPr>
        <p:spPr>
          <a:xfrm>
            <a:off x="11094415" y="3337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94415" y="3319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78728" y="326440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الشؤون المالية والمصاريف (Finance)</a:t>
            </a:r>
            <a:endParaRPr lang="ar-SA" sz="1350" dirty="0"/>
          </a:p>
        </p:txBody>
      </p:sp>
      <p:sp>
        <p:nvSpPr>
          <p:cNvPr id="15" name="Shape 13"/>
          <p:cNvSpPr/>
          <p:nvPr/>
        </p:nvSpPr>
        <p:spPr>
          <a:xfrm>
            <a:off x="5821528" y="33375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6" name="Text 14"/>
          <p:cNvSpPr/>
          <p:nvPr/>
        </p:nvSpPr>
        <p:spPr>
          <a:xfrm>
            <a:off x="5821528" y="3319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26440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خطط الاشتراك والإشعارات</a:t>
            </a:r>
            <a:endParaRPr lang="ar-SA" sz="1350" dirty="0"/>
          </a:p>
        </p:txBody>
      </p:sp>
      <p:sp>
        <p:nvSpPr>
          <p:cNvPr id="18" name="Shape 16"/>
          <p:cNvSpPr/>
          <p:nvPr/>
        </p:nvSpPr>
        <p:spPr>
          <a:xfrm>
            <a:off x="11094415" y="4526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94415" y="4507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8728" y="445312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استيراد الأعضاء من ملف Excel</a:t>
            </a:r>
            <a:endParaRPr lang="ar-SA" sz="1350" dirty="0"/>
          </a:p>
        </p:txBody>
      </p:sp>
      <p:sp>
        <p:nvSpPr>
          <p:cNvPr id="21" name="Shape 19"/>
          <p:cNvSpPr/>
          <p:nvPr/>
        </p:nvSpPr>
        <p:spPr>
          <a:xfrm>
            <a:off x="5821528" y="4526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5821528" y="4507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45312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الأعضاء المؤرشفون</a:t>
            </a:r>
            <a:endParaRPr lang="ar-SA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المشرف العام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— تحكّم مركزي بالمنصّة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الصالات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وإدارة جميع الصالات من مكان واحد.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6507328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01688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الصالة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حالة كل صالة وبياناتها وتفعيلها/تعطيلها.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رسائل جماعية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لكل المستخدمين ومتابعة المُرسَل.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732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1688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 الكلية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6507328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الفواتير والعمولات على مستوى المنصّة.</a:t>
            </a:r>
            <a:endParaRPr lang="ar-SA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 feature-first منظّمة</a:t>
            </a:r>
            <a:endParaRPr lang="ar-SA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ميزة مستقلة في مجلدها وتنقسم داخليًا إلى طبقات data / domain / presentation مع مزوّدات حالة — ما يجعل الشيفرة قابلة للصيانة والتوسّع.</a:t>
            </a:r>
            <a:endParaRPr lang="ar-SA" sz="1400" dirty="0"/>
          </a:p>
        </p:txBody>
      </p:sp>
      <p:sp>
        <p:nvSpPr>
          <p:cNvPr id="6" name="Shape 4"/>
          <p:cNvSpPr/>
          <p:nvPr/>
        </p:nvSpPr>
        <p:spPr>
          <a:xfrm>
            <a:off x="609448" y="29260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26262C"/>
          </a:solidFill>
          <a:ln/>
        </p:spPr>
      </p:sp>
      <p:sp>
        <p:nvSpPr>
          <p:cNvPr id="7" name="Text 5"/>
          <p:cNvSpPr/>
          <p:nvPr/>
        </p:nvSpPr>
        <p:spPr>
          <a:xfrm>
            <a:off x="929488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9488" y="3977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الشاشات والواجهات والمزوّدات (UI)</a:t>
            </a:r>
            <a:endParaRPr lang="ar-SA" sz="1300" dirty="0"/>
          </a:p>
        </p:txBody>
      </p:sp>
      <p:sp>
        <p:nvSpPr>
          <p:cNvPr id="9" name="Shape 7"/>
          <p:cNvSpPr/>
          <p:nvPr/>
        </p:nvSpPr>
        <p:spPr>
          <a:xfrm>
            <a:off x="4404208" y="29260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26262C"/>
          </a:solidFill>
          <a:ln/>
        </p:spPr>
      </p:sp>
      <p:sp>
        <p:nvSpPr>
          <p:cNvPr id="10" name="Text 8"/>
          <p:cNvSpPr/>
          <p:nvPr/>
        </p:nvSpPr>
        <p:spPr>
          <a:xfrm>
            <a:off x="4724248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24248" y="3977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النماذج ومنطق العمل</a:t>
            </a:r>
            <a:endParaRPr lang="ar-SA" sz="1300" dirty="0"/>
          </a:p>
        </p:txBody>
      </p:sp>
      <p:sp>
        <p:nvSpPr>
          <p:cNvPr id="12" name="Shape 10"/>
          <p:cNvSpPr/>
          <p:nvPr/>
        </p:nvSpPr>
        <p:spPr>
          <a:xfrm>
            <a:off x="8198968" y="29260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26262C"/>
          </a:solidFill>
          <a:ln/>
        </p:spPr>
      </p:sp>
      <p:sp>
        <p:nvSpPr>
          <p:cNvPr id="13" name="Text 11"/>
          <p:cNvSpPr/>
          <p:nvPr/>
        </p:nvSpPr>
        <p:spPr>
          <a:xfrm>
            <a:off x="8519008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19008" y="3977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المستودعات ومصادر البيانات</a:t>
            </a:r>
            <a:endParaRPr lang="ar-SA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حزمة التقنيات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شيفرة واحدة لـ iOS و Android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414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العمل عبر المنصّات</a:t>
            </a:r>
            <a:endParaRPr lang="ar-SA" sz="1150" dirty="0"/>
          </a:p>
        </p:txBody>
      </p:sp>
      <p:sp>
        <p:nvSpPr>
          <p:cNvPr id="8" name="Shape 6"/>
          <p:cNvSpPr/>
          <p:nvPr/>
        </p:nvSpPr>
        <p:spPr>
          <a:xfrm>
            <a:off x="4368698" y="178308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26262C"/>
          </a:solidFill>
          <a:ln/>
        </p:spPr>
      </p:sp>
      <p:sp>
        <p:nvSpPr>
          <p:cNvPr id="9" name="Text 7"/>
          <p:cNvSpPr/>
          <p:nvPr/>
        </p:nvSpPr>
        <p:spPr>
          <a:xfrm>
            <a:off x="4643018" y="196596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Riverpod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3018" y="24414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الحالة</a:t>
            </a:r>
            <a:endParaRPr lang="ar-SA" sz="1150" dirty="0"/>
          </a:p>
        </p:txBody>
      </p:sp>
      <p:sp>
        <p:nvSpPr>
          <p:cNvPr id="11" name="Shape 9"/>
          <p:cNvSpPr/>
          <p:nvPr/>
        </p:nvSpPr>
        <p:spPr>
          <a:xfrm>
            <a:off x="8097317" y="178308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26262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1637" y="196596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go_router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71637" y="24414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التنقّل وحُرّاس الصلاحيات</a:t>
            </a:r>
            <a:endParaRPr lang="ar-SA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26262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3756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8130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المنظومة الخلفية</a:t>
            </a:r>
            <a:endParaRPr lang="ar-SA" sz="1150" dirty="0"/>
          </a:p>
        </p:txBody>
      </p:sp>
      <p:sp>
        <p:nvSpPr>
          <p:cNvPr id="17" name="Shape 15"/>
          <p:cNvSpPr/>
          <p:nvPr/>
        </p:nvSpPr>
        <p:spPr>
          <a:xfrm>
            <a:off x="4368698" y="315468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26262C"/>
          </a:solidFill>
          <a:ln/>
        </p:spPr>
      </p:sp>
      <p:sp>
        <p:nvSpPr>
          <p:cNvPr id="18" name="Text 16"/>
          <p:cNvSpPr/>
          <p:nvPr/>
        </p:nvSpPr>
        <p:spPr>
          <a:xfrm>
            <a:off x="4643018" y="333756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43018" y="38130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المدفوعات</a:t>
            </a:r>
            <a:endParaRPr lang="ar-SA" sz="1150" dirty="0"/>
          </a:p>
        </p:txBody>
      </p:sp>
      <p:sp>
        <p:nvSpPr>
          <p:cNvPr id="20" name="Shape 18"/>
          <p:cNvSpPr/>
          <p:nvPr/>
        </p:nvSpPr>
        <p:spPr>
          <a:xfrm>
            <a:off x="8097317" y="315468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26262C"/>
          </a:solidFill>
          <a:ln/>
        </p:spPr>
      </p:sp>
      <p:sp>
        <p:nvSpPr>
          <p:cNvPr id="21" name="Text 19"/>
          <p:cNvSpPr/>
          <p:nvPr/>
        </p:nvSpPr>
        <p:spPr>
          <a:xfrm>
            <a:off x="8371637" y="333756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1637" y="38130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</a:t>
            </a:r>
            <a:endParaRPr lang="ar-SA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26262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70916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Kit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51846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الحركة</a:t>
            </a:r>
            <a:endParaRPr lang="ar-SA" sz="1150" dirty="0"/>
          </a:p>
        </p:txBody>
      </p:sp>
      <p:sp>
        <p:nvSpPr>
          <p:cNvPr id="26" name="Shape 24"/>
          <p:cNvSpPr/>
          <p:nvPr/>
        </p:nvSpPr>
        <p:spPr>
          <a:xfrm>
            <a:off x="4368698" y="452628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26262C"/>
          </a:solidFill>
          <a:ln/>
        </p:spPr>
      </p:sp>
      <p:sp>
        <p:nvSpPr>
          <p:cNvPr id="27" name="Text 25"/>
          <p:cNvSpPr/>
          <p:nvPr/>
        </p:nvSpPr>
        <p:spPr>
          <a:xfrm>
            <a:off x="4643018" y="470916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excel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43018" y="51846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والاستيراد</a:t>
            </a:r>
            <a:endParaRPr lang="ar-SA" sz="1150" dirty="0"/>
          </a:p>
        </p:txBody>
      </p:sp>
      <p:sp>
        <p:nvSpPr>
          <p:cNvPr id="29" name="Shape 27"/>
          <p:cNvSpPr/>
          <p:nvPr/>
        </p:nvSpPr>
        <p:spPr>
          <a:xfrm>
            <a:off x="8097317" y="4526280"/>
            <a:ext cx="3454298" cy="1188720"/>
          </a:xfrm>
          <a:prstGeom prst="roundRect">
            <a:avLst>
              <a:gd name="adj" fmla="val 6154"/>
            </a:avLst>
          </a:prstGeom>
          <a:solidFill>
            <a:srgbClr val="26262C"/>
          </a:solidFill>
          <a:ln/>
        </p:spPr>
      </p:sp>
      <p:sp>
        <p:nvSpPr>
          <p:cNvPr id="30" name="Text 28"/>
          <p:cNvSpPr/>
          <p:nvPr/>
        </p:nvSpPr>
        <p:spPr>
          <a:xfrm>
            <a:off x="8371637" y="4709160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71637" y="5184648"/>
            <a:ext cx="29056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الإشعارات الفورية</a:t>
            </a:r>
            <a:endParaRPr lang="ar-SA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الخدمات الخلفية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+ Cloud Functions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بريد، Google، Apple، استرجاع بالهاتف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17830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4643018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464301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37378" y="20391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4643018" y="26517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مجموعة بيانات لحظية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8097317" y="17830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1637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8371637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65997" y="20391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8371637" y="26517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تخزين الصور والملفات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40965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Config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7091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مفاتيح AI وقيم تشغيل ديناميكية</a:t>
            </a:r>
            <a:endParaRPr lang="ar-SA" sz="1200" dirty="0"/>
          </a:p>
        </p:txBody>
      </p:sp>
      <p:sp>
        <p:nvSpPr>
          <p:cNvPr id="25" name="Shape 23"/>
          <p:cNvSpPr/>
          <p:nvPr/>
        </p:nvSpPr>
        <p:spPr>
          <a:xfrm>
            <a:off x="4368698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6" name="Shape 24"/>
          <p:cNvSpPr/>
          <p:nvPr/>
        </p:nvSpPr>
        <p:spPr>
          <a:xfrm>
            <a:off x="464301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301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237378" y="40965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Functions</a:t>
            </a:r>
            <a:endParaRPr lang="ar-SA" sz="1500" dirty="0"/>
          </a:p>
        </p:txBody>
      </p:sp>
      <p:sp>
        <p:nvSpPr>
          <p:cNvPr id="29" name="Text 27"/>
          <p:cNvSpPr/>
          <p:nvPr/>
        </p:nvSpPr>
        <p:spPr>
          <a:xfrm>
            <a:off x="4643018" y="47091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دوال + 6 مشغّلات تلقائية</a:t>
            </a:r>
            <a:endParaRPr lang="ar-SA" sz="1200" dirty="0"/>
          </a:p>
        </p:txBody>
      </p:sp>
      <p:sp>
        <p:nvSpPr>
          <p:cNvPr id="30" name="Shape 28"/>
          <p:cNvSpPr/>
          <p:nvPr/>
        </p:nvSpPr>
        <p:spPr>
          <a:xfrm>
            <a:off x="8097317" y="384048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31" name="Shape 29"/>
          <p:cNvSpPr/>
          <p:nvPr/>
        </p:nvSpPr>
        <p:spPr>
          <a:xfrm>
            <a:off x="8371637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32" name="Text 30"/>
          <p:cNvSpPr/>
          <p:nvPr/>
        </p:nvSpPr>
        <p:spPr>
          <a:xfrm>
            <a:off x="8371637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965997" y="4096512"/>
            <a:ext cx="23570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/ Crashlytics</a:t>
            </a:r>
            <a:endParaRPr lang="ar-SA" sz="1500" dirty="0"/>
          </a:p>
        </p:txBody>
      </p:sp>
      <p:sp>
        <p:nvSpPr>
          <p:cNvPr id="34" name="Text 32"/>
          <p:cNvSpPr/>
          <p:nvPr/>
        </p:nvSpPr>
        <p:spPr>
          <a:xfrm>
            <a:off x="8371637" y="4709160"/>
            <a:ext cx="290565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ورصد أعطال</a:t>
            </a:r>
            <a:endParaRPr lang="ar-SA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والحماية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طبقات حماية متعددة مدمجة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E2F3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208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020824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تثبيت الشهادات</a:t>
            </a:r>
            <a:endParaRPr lang="ar-SA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24328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Pinning ضد هجمات MITM</a:t>
            </a:r>
            <a:endParaRPr lang="ar-SA" sz="1150" dirty="0"/>
          </a:p>
        </p:txBody>
      </p:sp>
      <p:sp>
        <p:nvSpPr>
          <p:cNvPr id="9" name="Shape 7"/>
          <p:cNvSpPr/>
          <p:nvPr/>
        </p:nvSpPr>
        <p:spPr>
          <a:xfrm>
            <a:off x="4368698" y="178308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E2F36"/>
          </a:solidFill>
          <a:ln/>
        </p:spPr>
      </p:sp>
      <p:sp>
        <p:nvSpPr>
          <p:cNvPr id="10" name="Text 8"/>
          <p:cNvSpPr/>
          <p:nvPr/>
        </p:nvSpPr>
        <p:spPr>
          <a:xfrm>
            <a:off x="4643018" y="20208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145938" y="2020824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Check</a:t>
            </a:r>
            <a:endParaRPr lang="ar-SA" sz="1400" dirty="0"/>
          </a:p>
        </p:txBody>
      </p:sp>
      <p:sp>
        <p:nvSpPr>
          <p:cNvPr id="12" name="Text 10"/>
          <p:cNvSpPr/>
          <p:nvPr/>
        </p:nvSpPr>
        <p:spPr>
          <a:xfrm>
            <a:off x="4643018" y="2624328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منع العملاء غير الموثوقين</a:t>
            </a:r>
            <a:endParaRPr lang="ar-SA" sz="1150" dirty="0"/>
          </a:p>
        </p:txBody>
      </p:sp>
      <p:sp>
        <p:nvSpPr>
          <p:cNvPr id="13" name="Shape 11"/>
          <p:cNvSpPr/>
          <p:nvPr/>
        </p:nvSpPr>
        <p:spPr>
          <a:xfrm>
            <a:off x="8097317" y="178308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E2F36"/>
          </a:solidFill>
          <a:ln/>
        </p:spPr>
      </p:sp>
      <p:sp>
        <p:nvSpPr>
          <p:cNvPr id="14" name="Text 12"/>
          <p:cNvSpPr/>
          <p:nvPr/>
        </p:nvSpPr>
        <p:spPr>
          <a:xfrm>
            <a:off x="8371637" y="202082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74557" y="2020824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حُرّاس الصلاحيات</a:t>
            </a:r>
            <a:endParaRPr lang="ar-SA" sz="1400" dirty="0"/>
          </a:p>
        </p:txBody>
      </p:sp>
      <p:sp>
        <p:nvSpPr>
          <p:cNvPr id="16" name="Text 14"/>
          <p:cNvSpPr/>
          <p:nvPr/>
        </p:nvSpPr>
        <p:spPr>
          <a:xfrm>
            <a:off x="8371637" y="2624328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تحكّم بالوصول حسب الدور</a:t>
            </a:r>
            <a:endParaRPr lang="ar-SA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E2F3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941064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مدفوعات على الخادم</a:t>
            </a:r>
            <a:endParaRPr lang="ar-SA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544568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عبر Cloud Functions</a:t>
            </a:r>
            <a:endParaRPr lang="ar-SA" sz="1150" dirty="0"/>
          </a:p>
        </p:txBody>
      </p:sp>
      <p:sp>
        <p:nvSpPr>
          <p:cNvPr id="21" name="Shape 19"/>
          <p:cNvSpPr/>
          <p:nvPr/>
        </p:nvSpPr>
        <p:spPr>
          <a:xfrm>
            <a:off x="4368698" y="370332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E2F36"/>
          </a:solidFill>
          <a:ln/>
        </p:spPr>
      </p:sp>
      <p:sp>
        <p:nvSpPr>
          <p:cNvPr id="22" name="Text 20"/>
          <p:cNvSpPr/>
          <p:nvPr/>
        </p:nvSpPr>
        <p:spPr>
          <a:xfrm>
            <a:off x="4643018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45938" y="3941064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المفاتيح</a:t>
            </a:r>
            <a:endParaRPr lang="ar-SA" sz="1400" dirty="0"/>
          </a:p>
        </p:txBody>
      </p:sp>
      <p:sp>
        <p:nvSpPr>
          <p:cNvPr id="24" name="Text 22"/>
          <p:cNvSpPr/>
          <p:nvPr/>
        </p:nvSpPr>
        <p:spPr>
          <a:xfrm>
            <a:off x="4643018" y="4544568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أسرار عبر Remote Config</a:t>
            </a:r>
            <a:endParaRPr lang="ar-SA" sz="1150" dirty="0"/>
          </a:p>
        </p:txBody>
      </p:sp>
      <p:sp>
        <p:nvSpPr>
          <p:cNvPr id="25" name="Shape 23"/>
          <p:cNvSpPr/>
          <p:nvPr/>
        </p:nvSpPr>
        <p:spPr>
          <a:xfrm>
            <a:off x="8097317" y="370332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E2F36"/>
          </a:solidFill>
          <a:ln/>
        </p:spPr>
      </p:sp>
      <p:sp>
        <p:nvSpPr>
          <p:cNvPr id="26" name="Text 24"/>
          <p:cNvSpPr/>
          <p:nvPr/>
        </p:nvSpPr>
        <p:spPr>
          <a:xfrm>
            <a:off x="8371637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874557" y="3941064"/>
            <a:ext cx="244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رصد الأعطال</a:t>
            </a:r>
            <a:endParaRPr lang="ar-SA" sz="1400" dirty="0"/>
          </a:p>
        </p:txBody>
      </p:sp>
      <p:sp>
        <p:nvSpPr>
          <p:cNvPr id="28" name="Text 26"/>
          <p:cNvSpPr/>
          <p:nvPr/>
        </p:nvSpPr>
        <p:spPr>
          <a:xfrm>
            <a:off x="8371637" y="4544568"/>
            <a:ext cx="29056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Crashlytics وحدود أخطاء</a:t>
            </a:r>
            <a:endParaRPr lang="ar-SA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يتضمّن المشروع تقرير اختبار اختراق داخلي ومراجعات شيفرة.</a:t>
            </a:r>
            <a:endParaRPr lang="ar-SA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التوطين والمنصّات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ثنائي اللغة بالكامل ومتعدد المنصّات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 + English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RTL تلقائي و~2,835 مفتاح ترجمة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6507328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01688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ثيم فاتح وداكن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بصرية مرنة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عبر GitHub Actions لإنتاج IPA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732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1688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6507328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minSdk 28 / compileSdk 36</a:t>
            </a:r>
            <a:endParaRPr lang="ar-SA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جاهزية المنتج بالأرقام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 مبنيّ وعامل — لا مجرد فكرة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6262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8483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Dart</a:t>
            </a:r>
            <a:endParaRPr lang="ar-SA" sz="1300" dirty="0"/>
          </a:p>
        </p:txBody>
      </p:sp>
      <p:sp>
        <p:nvSpPr>
          <p:cNvPr id="8" name="Shape 6"/>
          <p:cNvSpPr/>
          <p:nvPr/>
        </p:nvSpPr>
        <p:spPr>
          <a:xfrm>
            <a:off x="4368698" y="18288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6262C"/>
          </a:solidFill>
          <a:ln/>
        </p:spPr>
      </p:sp>
      <p:sp>
        <p:nvSpPr>
          <p:cNvPr id="9" name="Text 7"/>
          <p:cNvSpPr/>
          <p:nvPr/>
        </p:nvSpPr>
        <p:spPr>
          <a:xfrm>
            <a:off x="4368698" y="208483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88K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51578" y="29260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 برمجي</a:t>
            </a:r>
            <a:endParaRPr lang="ar-SA" sz="1300" dirty="0"/>
          </a:p>
        </p:txBody>
      </p:sp>
      <p:sp>
        <p:nvSpPr>
          <p:cNvPr id="11" name="Shape 9"/>
          <p:cNvSpPr/>
          <p:nvPr/>
        </p:nvSpPr>
        <p:spPr>
          <a:xfrm>
            <a:off x="8097317" y="18288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6262C"/>
          </a:solidFill>
          <a:ln/>
        </p:spPr>
      </p:sp>
      <p:sp>
        <p:nvSpPr>
          <p:cNvPr id="12" name="Text 10"/>
          <p:cNvSpPr/>
          <p:nvPr/>
        </p:nvSpPr>
        <p:spPr>
          <a:xfrm>
            <a:off x="8097317" y="208483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80197" y="29260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وظيفية</a:t>
            </a:r>
            <a:endParaRPr lang="ar-SA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6262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050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وواجهة</a:t>
            </a:r>
            <a:endParaRPr lang="ar-SA" sz="1300" dirty="0"/>
          </a:p>
        </p:txBody>
      </p:sp>
      <p:sp>
        <p:nvSpPr>
          <p:cNvPr id="17" name="Shape 15"/>
          <p:cNvSpPr/>
          <p:nvPr/>
        </p:nvSpPr>
        <p:spPr>
          <a:xfrm>
            <a:off x="4368698" y="374904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6262C"/>
          </a:solidFill>
          <a:ln/>
        </p:spPr>
      </p:sp>
      <p:sp>
        <p:nvSpPr>
          <p:cNvPr id="18" name="Text 16"/>
          <p:cNvSpPr/>
          <p:nvPr/>
        </p:nvSpPr>
        <p:spPr>
          <a:xfrm>
            <a:off x="4368698" y="40050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551578" y="484632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مجموعة بيانات</a:t>
            </a:r>
            <a:endParaRPr lang="ar-SA" sz="1300" dirty="0"/>
          </a:p>
        </p:txBody>
      </p:sp>
      <p:sp>
        <p:nvSpPr>
          <p:cNvPr id="20" name="Shape 18"/>
          <p:cNvSpPr/>
          <p:nvPr/>
        </p:nvSpPr>
        <p:spPr>
          <a:xfrm>
            <a:off x="8097317" y="374904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26262C"/>
          </a:solidFill>
          <a:ln/>
        </p:spPr>
      </p:sp>
      <p:sp>
        <p:nvSpPr>
          <p:cNvPr id="21" name="Text 19"/>
          <p:cNvSpPr/>
          <p:nvPr/>
        </p:nvSpPr>
        <p:spPr>
          <a:xfrm>
            <a:off x="8097317" y="40050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8280197" y="484632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 كاملة</a:t>
            </a:r>
            <a:endParaRPr lang="ar-SA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نيكسوس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ميزات تنافسية يصعب تقليدها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5044288" y="20391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5044288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شامل حقًا</a:t>
            </a:r>
            <a:endParaRPr lang="ar-SA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All-in-one: إدارة + تدريب + تغذية + دفع في منتج واحد.</a:t>
            </a:r>
            <a:endParaRPr lang="ar-SA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7830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10682935" y="20391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682935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8768" y="2057400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ar-SA" sz="1600" dirty="0"/>
          </a:p>
        </p:txBody>
      </p:sp>
      <p:sp>
        <p:nvSpPr>
          <p:cNvPr id="14" name="Text 12"/>
          <p:cNvSpPr/>
          <p:nvPr/>
        </p:nvSpPr>
        <p:spPr>
          <a:xfrm>
            <a:off x="6598768" y="265176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في الجوهر لا إضافة لاحقة.</a:t>
            </a:r>
            <a:endParaRPr lang="ar-SA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5044288" y="40965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5044288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114800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عربي أولًا</a:t>
            </a:r>
            <a:endParaRPr lang="ar-SA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470916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ثنائية اللغة كاملة بدعم RTL — سوق مُهمَل.</a:t>
            </a:r>
            <a:endParaRPr lang="ar-SA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3840480"/>
            <a:ext cx="527288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82935" y="40965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10682935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98768" y="4114800"/>
            <a:ext cx="3992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 ومبني</a:t>
            </a:r>
            <a:endParaRPr lang="ar-SA" sz="1600" dirty="0"/>
          </a:p>
        </p:txBody>
      </p:sp>
      <p:sp>
        <p:nvSpPr>
          <p:cNvPr id="24" name="Text 22"/>
          <p:cNvSpPr/>
          <p:nvPr/>
        </p:nvSpPr>
        <p:spPr>
          <a:xfrm>
            <a:off x="6598768" y="4709160"/>
            <a:ext cx="46328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حديثة وأمان قوي ومنتج قابل للنشر اليوم.</a:t>
            </a:r>
            <a:endParaRPr lang="ar-SA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الطريق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الخطوات القادمة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859975" y="2029968"/>
            <a:ext cx="1325880" cy="475488"/>
          </a:xfrm>
          <a:prstGeom prst="roundRect">
            <a:avLst>
              <a:gd name="adj" fmla="val 19231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859975" y="202996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الآن</a:t>
            </a:r>
            <a:endParaRPr lang="ar-SA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8716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 على App Store و Google Play بعد ضبط معرّف التطبيق.</a:t>
            </a:r>
            <a:endParaRPr lang="ar-SA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52928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26262C"/>
          </a:solidFill>
          <a:ln/>
        </p:spPr>
      </p:sp>
      <p:sp>
        <p:nvSpPr>
          <p:cNvPr id="10" name="Shape 8"/>
          <p:cNvSpPr/>
          <p:nvPr/>
        </p:nvSpPr>
        <p:spPr>
          <a:xfrm>
            <a:off x="9859975" y="3054096"/>
            <a:ext cx="1325880" cy="475488"/>
          </a:xfrm>
          <a:prstGeom prst="roundRect">
            <a:avLst>
              <a:gd name="adj" fmla="val 19231"/>
            </a:avLst>
          </a:prstGeom>
          <a:solidFill>
            <a:srgbClr val="39D98A"/>
          </a:solidFill>
          <a:ln/>
        </p:spPr>
      </p:sp>
      <p:sp>
        <p:nvSpPr>
          <p:cNvPr id="11" name="Text 9"/>
          <p:cNvSpPr/>
          <p:nvPr/>
        </p:nvSpPr>
        <p:spPr>
          <a:xfrm>
            <a:off x="9859975" y="305409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قريبًا</a:t>
            </a:r>
            <a:endParaRPr lang="ar-SA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8716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تفعيل المصادقة الثنائية (2FA) وتعزيز لوحات التحليلات.</a:t>
            </a:r>
            <a:endParaRPr lang="ar-SA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26262C"/>
          </a:solidFill>
          <a:ln/>
        </p:spPr>
      </p:sp>
      <p:sp>
        <p:nvSpPr>
          <p:cNvPr id="14" name="Shape 12"/>
          <p:cNvSpPr/>
          <p:nvPr/>
        </p:nvSpPr>
        <p:spPr>
          <a:xfrm>
            <a:off x="9859975" y="4078224"/>
            <a:ext cx="1325880" cy="475488"/>
          </a:xfrm>
          <a:prstGeom prst="roundRect">
            <a:avLst>
              <a:gd name="adj" fmla="val 19231"/>
            </a:avLst>
          </a:prstGeom>
          <a:solidFill>
            <a:srgbClr val="39D98A"/>
          </a:solidFill>
          <a:ln/>
        </p:spPr>
      </p:sp>
      <p:sp>
        <p:nvSpPr>
          <p:cNvPr id="15" name="Text 13"/>
          <p:cNvSpPr/>
          <p:nvPr/>
        </p:nvSpPr>
        <p:spPr>
          <a:xfrm>
            <a:off x="9859975" y="407822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</a:t>
            </a:r>
            <a:endParaRPr lang="ar-SA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877056"/>
            <a:ext cx="8716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استقطاب صالات جديدة وشراكات وتوسيع قاعدة المستخدمين.</a:t>
            </a:r>
            <a:endParaRPr lang="ar-SA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901184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26262C"/>
          </a:solidFill>
          <a:ln/>
        </p:spPr>
      </p:sp>
      <p:sp>
        <p:nvSpPr>
          <p:cNvPr id="18" name="Shape 16"/>
          <p:cNvSpPr/>
          <p:nvPr/>
        </p:nvSpPr>
        <p:spPr>
          <a:xfrm>
            <a:off x="9859975" y="5102352"/>
            <a:ext cx="1325880" cy="475488"/>
          </a:xfrm>
          <a:prstGeom prst="roundRect">
            <a:avLst>
              <a:gd name="adj" fmla="val 19231"/>
            </a:avLst>
          </a:prstGeom>
          <a:solidFill>
            <a:srgbClr val="39D98A"/>
          </a:solidFill>
          <a:ln/>
        </p:spPr>
      </p:sp>
      <p:sp>
        <p:nvSpPr>
          <p:cNvPr id="19" name="Text 17"/>
          <p:cNvSpPr/>
          <p:nvPr/>
        </p:nvSpPr>
        <p:spPr>
          <a:xfrm>
            <a:off x="9859975" y="510235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المستقبل</a:t>
            </a:r>
            <a:endParaRPr lang="ar-SA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901184"/>
            <a:ext cx="87169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ميزات AI إضافية، تحليلات تنبّؤية، وتوسّع إقليمي.</a:t>
            </a:r>
            <a:endParaRPr lang="ar-SA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0719" y="54864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65760"/>
            <a:ext cx="99971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قبل النشر</a:t>
            </a:r>
            <a:endParaRPr lang="ar-SA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98755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3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نقاط تشغيلية لا تمسّ جوهر المنتج</a:t>
            </a:r>
            <a:endParaRPr lang="ar-SA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معرّف التطبيق</a:t>
            </a:r>
            <a:endParaRPr lang="ar-SA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تغيير com.example.nexus إلى معرّف حقيقي قبل المتاجر.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1" name="Shape 9"/>
          <p:cNvSpPr/>
          <p:nvPr/>
        </p:nvSpPr>
        <p:spPr>
          <a:xfrm>
            <a:off x="6507328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01688" y="20391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مفتاح Stripe</a:t>
            </a:r>
            <a:endParaRPr lang="ar-SA" sz="1500" dirty="0"/>
          </a:p>
        </p:txBody>
      </p:sp>
      <p:sp>
        <p:nvSpPr>
          <p:cNvPr id="14" name="Text 12"/>
          <p:cNvSpPr/>
          <p:nvPr/>
        </p:nvSpPr>
        <p:spPr>
          <a:xfrm>
            <a:off x="6507328" y="26517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سحب pk_live من Remote Config بدل كتابته في الشيفرة.</a:t>
            </a:r>
            <a:endParaRPr lang="ar-SA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تفعيل 2FA</a:t>
            </a:r>
            <a:endParaRPr lang="ar-SA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الهيكل موجود ومعطّل — تفعيله يرفع أمان الحسابات الإدارية.</a:t>
            </a:r>
            <a:endParaRPr lang="ar-SA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3840480"/>
            <a:ext cx="5318608" cy="1828800"/>
          </a:xfrm>
          <a:prstGeom prst="roundRect">
            <a:avLst>
              <a:gd name="adj" fmla="val 4000"/>
            </a:avLst>
          </a:prstGeom>
          <a:solidFill>
            <a:srgbClr val="26262C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7328" y="4114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9D98A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1688" y="4096512"/>
            <a:ext cx="422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تنظيف وتوثيق</a:t>
            </a:r>
            <a:endParaRPr lang="ar-SA" sz="1500" dirty="0"/>
          </a:p>
        </p:txBody>
      </p:sp>
      <p:sp>
        <p:nvSpPr>
          <p:cNvPr id="24" name="Text 22"/>
          <p:cNvSpPr/>
          <p:nvPr/>
        </p:nvSpPr>
        <p:spPr>
          <a:xfrm>
            <a:off x="6507328" y="4709160"/>
            <a:ext cx="47699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تنظيم سكربتات التطوير وتحديث ملف README.</a:t>
            </a:r>
            <a:endParaRPr lang="ar-SA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88575" y="6382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ar-SA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146304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39D98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78308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rgbClr val="39D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مستقبل إدارة اللياقة الرياضية</a:t>
            </a:r>
            <a:endParaRPr lang="ar-SA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370332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متكاملة، ذكية، وجاهزة للنمو.</a:t>
            </a:r>
            <a:endParaRPr lang="ar-SA" sz="15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</a:t>
            </a:r>
            <a:endParaRPr lang="ar-SA" sz="1800" dirty="0"/>
          </a:p>
        </p:txBody>
      </p:sp>
      <p:sp>
        <p:nvSpPr>
          <p:cNvPr id="7" name="Text 5"/>
          <p:cNvSpPr/>
          <p:nvPr/>
        </p:nvSpPr>
        <p:spPr>
          <a:xfrm>
            <a:off x="0" y="58521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abdalqader268@gmail.com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2026-06-28T14:53:32Z</dcterms:created>
  <dcterms:modified xsi:type="dcterms:W3CDTF">2026-06-28T14:53:32Z</dcterms:modified>
</cp:coreProperties>
</file>