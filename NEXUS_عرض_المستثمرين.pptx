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4920" y="1554480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39D98A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828800"/>
            <a:ext cx="1219169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spc="6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0" y="320040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spc="300" kern="0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FITNESS &amp; GYM MANAGEMENT PLATFORM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388620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8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نظام تشغيلي متكامل لإدارة الصالات الرياضية مدعوم بالذكاء الاصطناعي</a:t>
            </a:r>
            <a:endParaRPr lang="ar-SA" sz="1800" dirty="0"/>
          </a:p>
        </p:txBody>
      </p:sp>
      <p:sp>
        <p:nvSpPr>
          <p:cNvPr id="6" name="Text 4"/>
          <p:cNvSpPr/>
          <p:nvPr/>
        </p:nvSpPr>
        <p:spPr>
          <a:xfrm>
            <a:off x="0" y="585216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عرض تعريفي للمستثمرين</a:t>
            </a:r>
            <a:endParaRPr lang="ar-SA" sz="1300" dirty="0"/>
          </a:p>
        </p:txBody>
      </p:sp>
      <p:sp>
        <p:nvSpPr>
          <p:cNvPr id="7" name="Text 5"/>
          <p:cNvSpPr/>
          <p:nvPr/>
        </p:nvSpPr>
        <p:spPr>
          <a:xfrm>
            <a:off x="0" y="6199632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E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 •  الإصدار 1.0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40719" y="56692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39D98A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384048"/>
            <a:ext cx="99971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المشكلة</a:t>
            </a:r>
            <a:endParaRPr lang="ar-SA" sz="3000" dirty="0"/>
          </a:p>
        </p:txBody>
      </p:sp>
      <p:sp>
        <p:nvSpPr>
          <p:cNvPr id="4" name="Text 2"/>
          <p:cNvSpPr/>
          <p:nvPr/>
        </p:nvSpPr>
        <p:spPr>
          <a:xfrm>
            <a:off x="1097280" y="1024128"/>
            <a:ext cx="99971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الصالات الرياضية تُدار بأدوات مبعثرة وغير مترابطة</a:t>
            </a:r>
            <a:endParaRPr lang="ar-SA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272888" cy="1874520"/>
          </a:xfrm>
          <a:prstGeom prst="roundRect">
            <a:avLst>
              <a:gd name="adj" fmla="val 3902"/>
            </a:avLst>
          </a:prstGeom>
          <a:solidFill>
            <a:srgbClr val="26262C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993392"/>
            <a:ext cx="4632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إدارة يدوية</a:t>
            </a:r>
            <a:endParaRPr lang="ar-SA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2606040"/>
            <a:ext cx="463280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35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ملفات Excel وأوراق لإدارة الأعضاء والاشتراكات — بطيئة ومعرّضة للخطأ.</a:t>
            </a:r>
            <a:endParaRPr lang="ar-SA" sz="1350" dirty="0"/>
          </a:p>
        </p:txBody>
      </p:sp>
      <p:sp>
        <p:nvSpPr>
          <p:cNvPr id="8" name="Shape 6"/>
          <p:cNvSpPr/>
          <p:nvPr/>
        </p:nvSpPr>
        <p:spPr>
          <a:xfrm>
            <a:off x="6278728" y="1737360"/>
            <a:ext cx="5272888" cy="1874520"/>
          </a:xfrm>
          <a:prstGeom prst="roundRect">
            <a:avLst>
              <a:gd name="adj" fmla="val 3902"/>
            </a:avLst>
          </a:prstGeom>
          <a:solidFill>
            <a:srgbClr val="26262C"/>
          </a:solidFill>
          <a:ln/>
        </p:spPr>
      </p:sp>
      <p:sp>
        <p:nvSpPr>
          <p:cNvPr id="9" name="Text 7"/>
          <p:cNvSpPr/>
          <p:nvPr/>
        </p:nvSpPr>
        <p:spPr>
          <a:xfrm>
            <a:off x="6598768" y="1993392"/>
            <a:ext cx="4632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مدفوعات فوضوية</a:t>
            </a:r>
            <a:endParaRPr lang="ar-SA" sz="1800" dirty="0"/>
          </a:p>
        </p:txBody>
      </p:sp>
      <p:sp>
        <p:nvSpPr>
          <p:cNvPr id="10" name="Text 8"/>
          <p:cNvSpPr/>
          <p:nvPr/>
        </p:nvSpPr>
        <p:spPr>
          <a:xfrm>
            <a:off x="6598768" y="2606040"/>
            <a:ext cx="463280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35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تحصيل وتتبّع الاشتراكات بلا نظام موحّد أو فواتير واضحة.</a:t>
            </a:r>
            <a:endParaRPr lang="ar-SA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3886200"/>
            <a:ext cx="5272888" cy="1874520"/>
          </a:xfrm>
          <a:prstGeom prst="roundRect">
            <a:avLst>
              <a:gd name="adj" fmla="val 3902"/>
            </a:avLst>
          </a:prstGeom>
          <a:solidFill>
            <a:srgbClr val="26262C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4142232"/>
            <a:ext cx="4632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متابعة رقمية</a:t>
            </a:r>
            <a:endParaRPr lang="ar-SA" sz="1800" dirty="0"/>
          </a:p>
        </p:txBody>
      </p:sp>
      <p:sp>
        <p:nvSpPr>
          <p:cNvPr id="13" name="Text 11"/>
          <p:cNvSpPr/>
          <p:nvPr/>
        </p:nvSpPr>
        <p:spPr>
          <a:xfrm>
            <a:off x="960120" y="4754880"/>
            <a:ext cx="463280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35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غياب أدوات تدريب وتغذية تربط المدرّب بالمتدرّب فعليًا.</a:t>
            </a:r>
            <a:endParaRPr lang="ar-SA" sz="1350" dirty="0"/>
          </a:p>
        </p:txBody>
      </p:sp>
      <p:sp>
        <p:nvSpPr>
          <p:cNvPr id="14" name="Shape 12"/>
          <p:cNvSpPr/>
          <p:nvPr/>
        </p:nvSpPr>
        <p:spPr>
          <a:xfrm>
            <a:off x="6278728" y="3886200"/>
            <a:ext cx="5272888" cy="1874520"/>
          </a:xfrm>
          <a:prstGeom prst="roundRect">
            <a:avLst>
              <a:gd name="adj" fmla="val 3902"/>
            </a:avLst>
          </a:prstGeom>
          <a:solidFill>
            <a:srgbClr val="26262C"/>
          </a:solidFill>
          <a:ln/>
        </p:spPr>
      </p:sp>
      <p:sp>
        <p:nvSpPr>
          <p:cNvPr id="15" name="Text 13"/>
          <p:cNvSpPr/>
          <p:nvPr/>
        </p:nvSpPr>
        <p:spPr>
          <a:xfrm>
            <a:off x="6598768" y="4142232"/>
            <a:ext cx="4632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تجربة باهتة</a:t>
            </a:r>
            <a:endParaRPr lang="ar-SA" sz="1800" dirty="0"/>
          </a:p>
        </p:txBody>
      </p:sp>
      <p:sp>
        <p:nvSpPr>
          <p:cNvPr id="16" name="Text 14"/>
          <p:cNvSpPr/>
          <p:nvPr/>
        </p:nvSpPr>
        <p:spPr>
          <a:xfrm>
            <a:off x="6598768" y="4754880"/>
            <a:ext cx="463280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35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تحفيز ولا ذكاء اصطناعي — المتدرّب يفقد الحماس ويغادر.</a:t>
            </a:r>
            <a:endParaRPr lang="ar-SA" sz="1350" dirty="0"/>
          </a:p>
        </p:txBody>
      </p:sp>
      <p:sp>
        <p:nvSpPr>
          <p:cNvPr id="17" name="Text 15"/>
          <p:cNvSpPr/>
          <p:nvPr/>
        </p:nvSpPr>
        <p:spPr>
          <a:xfrm>
            <a:off x="640080" y="6080760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النتيجة: تسرّب أعضاء، وقت ضائع، وإيرادات مفقودة.</a:t>
            </a:r>
            <a:endParaRPr lang="ar-SA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E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08857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000" b="1" dirty="0">
                <a:solidFill>
                  <a:srgbClr val="7E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ar-SA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40719" y="56692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39D98A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384048"/>
            <a:ext cx="99971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الحلّ: نيكسوس</a:t>
            </a:r>
            <a:endParaRPr lang="ar-SA" sz="3000" dirty="0"/>
          </a:p>
        </p:txBody>
      </p:sp>
      <p:sp>
        <p:nvSpPr>
          <p:cNvPr id="4" name="Text 2"/>
          <p:cNvSpPr/>
          <p:nvPr/>
        </p:nvSpPr>
        <p:spPr>
          <a:xfrm>
            <a:off x="1097280" y="1024128"/>
            <a:ext cx="99971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ما تحتاجه الصالة وأعضاؤها — في تطبيق واحد</a:t>
            </a:r>
            <a:endParaRPr lang="ar-SA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2556434" cy="3108960"/>
          </a:xfrm>
          <a:prstGeom prst="roundRect">
            <a:avLst>
              <a:gd name="adj" fmla="val 2861"/>
            </a:avLst>
          </a:prstGeom>
          <a:solidFill>
            <a:srgbClr val="26262C"/>
          </a:solidFill>
          <a:ln/>
        </p:spPr>
      </p:sp>
      <p:sp>
        <p:nvSpPr>
          <p:cNvPr id="6" name="Shape 4"/>
          <p:cNvSpPr/>
          <p:nvPr/>
        </p:nvSpPr>
        <p:spPr>
          <a:xfrm>
            <a:off x="1643977" y="237744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39D98A"/>
          </a:solidFill>
          <a:ln/>
        </p:spPr>
      </p:sp>
      <p:sp>
        <p:nvSpPr>
          <p:cNvPr id="7" name="Text 5"/>
          <p:cNvSpPr/>
          <p:nvPr/>
        </p:nvSpPr>
        <p:spPr>
          <a:xfrm>
            <a:off x="1643977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04672" y="3154680"/>
            <a:ext cx="222725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الإدارة</a:t>
            </a:r>
            <a:endParaRPr lang="ar-SA" sz="1600" dirty="0"/>
          </a:p>
        </p:txBody>
      </p:sp>
      <p:sp>
        <p:nvSpPr>
          <p:cNvPr id="9" name="Text 7"/>
          <p:cNvSpPr/>
          <p:nvPr/>
        </p:nvSpPr>
        <p:spPr>
          <a:xfrm>
            <a:off x="841248" y="3703320"/>
            <a:ext cx="215409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ar-SA" altLang="en-US" sz="125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أعضاء، اشتراكات، حضور، تقارير مالية</a:t>
            </a:r>
            <a:endParaRPr lang="ar-SA" sz="1250" dirty="0"/>
          </a:p>
        </p:txBody>
      </p:sp>
      <p:sp>
        <p:nvSpPr>
          <p:cNvPr id="10" name="Shape 8"/>
          <p:cNvSpPr/>
          <p:nvPr/>
        </p:nvSpPr>
        <p:spPr>
          <a:xfrm>
            <a:off x="3425114" y="2011680"/>
            <a:ext cx="2556434" cy="3108960"/>
          </a:xfrm>
          <a:prstGeom prst="roundRect">
            <a:avLst>
              <a:gd name="adj" fmla="val 2861"/>
            </a:avLst>
          </a:prstGeom>
          <a:solidFill>
            <a:srgbClr val="26262C"/>
          </a:solidFill>
          <a:ln/>
        </p:spPr>
      </p:sp>
      <p:sp>
        <p:nvSpPr>
          <p:cNvPr id="11" name="Shape 9"/>
          <p:cNvSpPr/>
          <p:nvPr/>
        </p:nvSpPr>
        <p:spPr>
          <a:xfrm>
            <a:off x="4429011" y="237744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39D98A"/>
          </a:solidFill>
          <a:ln/>
        </p:spPr>
      </p:sp>
      <p:sp>
        <p:nvSpPr>
          <p:cNvPr id="12" name="Text 10"/>
          <p:cNvSpPr/>
          <p:nvPr/>
        </p:nvSpPr>
        <p:spPr>
          <a:xfrm>
            <a:off x="4429011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89706" y="3154680"/>
            <a:ext cx="222725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التدريب الذكي</a:t>
            </a:r>
            <a:endParaRPr lang="ar-SA" sz="1600" dirty="0"/>
          </a:p>
        </p:txBody>
      </p:sp>
      <p:sp>
        <p:nvSpPr>
          <p:cNvPr id="14" name="Text 12"/>
          <p:cNvSpPr/>
          <p:nvPr/>
        </p:nvSpPr>
        <p:spPr>
          <a:xfrm>
            <a:off x="3626282" y="3703320"/>
            <a:ext cx="215409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ar-SA" altLang="en-US" sz="125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خطط تلقائية وتتبّع وتحليل أداء بالـ AI</a:t>
            </a:r>
            <a:endParaRPr lang="ar-SA" sz="1250" dirty="0"/>
          </a:p>
        </p:txBody>
      </p:sp>
      <p:sp>
        <p:nvSpPr>
          <p:cNvPr id="15" name="Shape 13"/>
          <p:cNvSpPr/>
          <p:nvPr/>
        </p:nvSpPr>
        <p:spPr>
          <a:xfrm>
            <a:off x="6210148" y="2011680"/>
            <a:ext cx="2556434" cy="3108960"/>
          </a:xfrm>
          <a:prstGeom prst="roundRect">
            <a:avLst>
              <a:gd name="adj" fmla="val 2861"/>
            </a:avLst>
          </a:prstGeom>
          <a:solidFill>
            <a:srgbClr val="26262C"/>
          </a:solidFill>
          <a:ln/>
        </p:spPr>
      </p:sp>
      <p:sp>
        <p:nvSpPr>
          <p:cNvPr id="16" name="Shape 14"/>
          <p:cNvSpPr/>
          <p:nvPr/>
        </p:nvSpPr>
        <p:spPr>
          <a:xfrm>
            <a:off x="7214045" y="237744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39D98A"/>
          </a:solidFill>
          <a:ln/>
        </p:spPr>
      </p:sp>
      <p:sp>
        <p:nvSpPr>
          <p:cNvPr id="17" name="Text 15"/>
          <p:cNvSpPr/>
          <p:nvPr/>
        </p:nvSpPr>
        <p:spPr>
          <a:xfrm>
            <a:off x="7214045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374740" y="3154680"/>
            <a:ext cx="222725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التغذية</a:t>
            </a:r>
            <a:endParaRPr lang="ar-SA" sz="1600" dirty="0"/>
          </a:p>
        </p:txBody>
      </p:sp>
      <p:sp>
        <p:nvSpPr>
          <p:cNvPr id="19" name="Text 17"/>
          <p:cNvSpPr/>
          <p:nvPr/>
        </p:nvSpPr>
        <p:spPr>
          <a:xfrm>
            <a:off x="6411316" y="3703320"/>
            <a:ext cx="215409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ar-SA" altLang="en-US" sz="125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تتبّع وجبات، قواعد أطعمة، خطط مخصّصة</a:t>
            </a:r>
            <a:endParaRPr lang="ar-SA" sz="1250" dirty="0"/>
          </a:p>
        </p:txBody>
      </p:sp>
      <p:sp>
        <p:nvSpPr>
          <p:cNvPr id="20" name="Shape 18"/>
          <p:cNvSpPr/>
          <p:nvPr/>
        </p:nvSpPr>
        <p:spPr>
          <a:xfrm>
            <a:off x="8995181" y="2011680"/>
            <a:ext cx="2556434" cy="3108960"/>
          </a:xfrm>
          <a:prstGeom prst="roundRect">
            <a:avLst>
              <a:gd name="adj" fmla="val 2861"/>
            </a:avLst>
          </a:prstGeom>
          <a:solidFill>
            <a:srgbClr val="26262C"/>
          </a:solidFill>
          <a:ln/>
        </p:spPr>
      </p:sp>
      <p:sp>
        <p:nvSpPr>
          <p:cNvPr id="21" name="Shape 19"/>
          <p:cNvSpPr/>
          <p:nvPr/>
        </p:nvSpPr>
        <p:spPr>
          <a:xfrm>
            <a:off x="9999078" y="237744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39D98A"/>
          </a:solidFill>
          <a:ln/>
        </p:spPr>
      </p:sp>
      <p:sp>
        <p:nvSpPr>
          <p:cNvPr id="22" name="Text 20"/>
          <p:cNvSpPr/>
          <p:nvPr/>
        </p:nvSpPr>
        <p:spPr>
          <a:xfrm>
            <a:off x="9999078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159773" y="3154680"/>
            <a:ext cx="222725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المدفوعات</a:t>
            </a:r>
            <a:endParaRPr lang="ar-SA" sz="1600" dirty="0"/>
          </a:p>
        </p:txBody>
      </p:sp>
      <p:sp>
        <p:nvSpPr>
          <p:cNvPr id="24" name="Text 22"/>
          <p:cNvSpPr/>
          <p:nvPr/>
        </p:nvSpPr>
        <p:spPr>
          <a:xfrm>
            <a:off x="9196349" y="3703320"/>
            <a:ext cx="215409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ar-SA" altLang="en-US" sz="125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اشتراكات وعمولات وفواتير عبر Stripe</a:t>
            </a:r>
            <a:endParaRPr lang="ar-SA" sz="1250" dirty="0"/>
          </a:p>
        </p:txBody>
      </p:sp>
      <p:sp>
        <p:nvSpPr>
          <p:cNvPr id="25" name="Text 23"/>
          <p:cNvSpPr/>
          <p:nvPr/>
        </p:nvSpPr>
        <p:spPr>
          <a:xfrm>
            <a:off x="640080" y="571500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منصّة واحدة تربط الإدارة (B2B) بتجربة المتدرّب (B2C) بسلاسة.</a:t>
            </a:r>
            <a:endParaRPr lang="ar-SA" sz="1400" dirty="0"/>
          </a:p>
        </p:txBody>
      </p:sp>
      <p:sp>
        <p:nvSpPr>
          <p:cNvPr id="26" name="Text 24"/>
          <p:cNvSpPr/>
          <p:nvPr/>
        </p:nvSpPr>
        <p:spPr>
          <a:xfrm>
            <a:off x="548640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E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08857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000" b="1" dirty="0">
                <a:solidFill>
                  <a:srgbClr val="7E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ar-SA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40719" y="56692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39D98A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384048"/>
            <a:ext cx="99971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كيف يعمل</a:t>
            </a:r>
            <a:endParaRPr lang="ar-SA" sz="3000" dirty="0"/>
          </a:p>
        </p:txBody>
      </p:sp>
      <p:sp>
        <p:nvSpPr>
          <p:cNvPr id="4" name="Text 2"/>
          <p:cNvSpPr/>
          <p:nvPr/>
        </p:nvSpPr>
        <p:spPr>
          <a:xfrm>
            <a:off x="1097280" y="1024128"/>
            <a:ext cx="99971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ثلاث حلقات مترابطة في نظام واحد</a:t>
            </a:r>
            <a:endParaRPr lang="ar-SA" sz="1300" dirty="0"/>
          </a:p>
        </p:txBody>
      </p:sp>
      <p:sp>
        <p:nvSpPr>
          <p:cNvPr id="5" name="Shape 3"/>
          <p:cNvSpPr/>
          <p:nvPr/>
        </p:nvSpPr>
        <p:spPr>
          <a:xfrm>
            <a:off x="655168" y="2194560"/>
            <a:ext cx="3291840" cy="3017520"/>
          </a:xfrm>
          <a:prstGeom prst="roundRect">
            <a:avLst>
              <a:gd name="adj" fmla="val 2424"/>
            </a:avLst>
          </a:prstGeom>
          <a:solidFill>
            <a:srgbClr val="26262C"/>
          </a:solidFill>
          <a:ln/>
        </p:spPr>
      </p:sp>
      <p:sp>
        <p:nvSpPr>
          <p:cNvPr id="6" name="Text 4"/>
          <p:cNvSpPr/>
          <p:nvPr/>
        </p:nvSpPr>
        <p:spPr>
          <a:xfrm>
            <a:off x="929488" y="246888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29488" y="3246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الصالة</a:t>
            </a:r>
            <a:endParaRPr lang="ar-SA" sz="1900" dirty="0"/>
          </a:p>
        </p:txBody>
      </p:sp>
      <p:sp>
        <p:nvSpPr>
          <p:cNvPr id="8" name="Text 6"/>
          <p:cNvSpPr/>
          <p:nvPr/>
        </p:nvSpPr>
        <p:spPr>
          <a:xfrm>
            <a:off x="929488" y="384048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35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تُنشأ وتُدار مركزيًا: أعضاء، خطط اشتراك، مالية، وحضور.</a:t>
            </a:r>
            <a:endParaRPr lang="ar-SA" sz="1350" dirty="0"/>
          </a:p>
        </p:txBody>
      </p:sp>
      <p:sp>
        <p:nvSpPr>
          <p:cNvPr id="9" name="Text 7"/>
          <p:cNvSpPr/>
          <p:nvPr/>
        </p:nvSpPr>
        <p:spPr>
          <a:xfrm>
            <a:off x="106528" y="3291840"/>
            <a:ext cx="594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23A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‹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4449928" y="2194560"/>
            <a:ext cx="3291840" cy="3017520"/>
          </a:xfrm>
          <a:prstGeom prst="roundRect">
            <a:avLst>
              <a:gd name="adj" fmla="val 2424"/>
            </a:avLst>
          </a:prstGeom>
          <a:solidFill>
            <a:srgbClr val="26262C"/>
          </a:solidFill>
          <a:ln/>
        </p:spPr>
      </p:sp>
      <p:sp>
        <p:nvSpPr>
          <p:cNvPr id="11" name="Text 9"/>
          <p:cNvSpPr/>
          <p:nvPr/>
        </p:nvSpPr>
        <p:spPr>
          <a:xfrm>
            <a:off x="4724248" y="246888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724248" y="3246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المدرّب</a:t>
            </a:r>
            <a:endParaRPr lang="ar-SA" sz="1900" dirty="0"/>
          </a:p>
        </p:txBody>
      </p:sp>
      <p:sp>
        <p:nvSpPr>
          <p:cNvPr id="13" name="Text 11"/>
          <p:cNvSpPr/>
          <p:nvPr/>
        </p:nvSpPr>
        <p:spPr>
          <a:xfrm>
            <a:off x="4724248" y="384048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35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يتابع لاعبيه، يضبط خطط التغذية، ويراسلهم مباشرة.</a:t>
            </a:r>
            <a:endParaRPr lang="ar-SA" sz="1350" dirty="0"/>
          </a:p>
        </p:txBody>
      </p:sp>
      <p:sp>
        <p:nvSpPr>
          <p:cNvPr id="14" name="Text 12"/>
          <p:cNvSpPr/>
          <p:nvPr/>
        </p:nvSpPr>
        <p:spPr>
          <a:xfrm>
            <a:off x="3901288" y="3291840"/>
            <a:ext cx="594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23A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‹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8244688" y="2194560"/>
            <a:ext cx="3291840" cy="3017520"/>
          </a:xfrm>
          <a:prstGeom prst="roundRect">
            <a:avLst>
              <a:gd name="adj" fmla="val 2424"/>
            </a:avLst>
          </a:prstGeom>
          <a:solidFill>
            <a:srgbClr val="26262C"/>
          </a:solidFill>
          <a:ln/>
        </p:spPr>
      </p:sp>
      <p:sp>
        <p:nvSpPr>
          <p:cNvPr id="16" name="Text 14"/>
          <p:cNvSpPr/>
          <p:nvPr/>
        </p:nvSpPr>
        <p:spPr>
          <a:xfrm>
            <a:off x="8519008" y="246888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519008" y="3246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المتدرّب</a:t>
            </a:r>
            <a:endParaRPr lang="ar-SA" sz="1900" dirty="0"/>
          </a:p>
        </p:txBody>
      </p:sp>
      <p:sp>
        <p:nvSpPr>
          <p:cNvPr id="18" name="Text 16"/>
          <p:cNvSpPr/>
          <p:nvPr/>
        </p:nvSpPr>
        <p:spPr>
          <a:xfrm>
            <a:off x="8519008" y="384048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35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يتدرّب بخطة ذكية، يتتبّع تغذيته، ويُحلَّل أداؤه بالـ AI.</a:t>
            </a:r>
            <a:endParaRPr lang="ar-SA" sz="1350" dirty="0"/>
          </a:p>
        </p:txBody>
      </p:sp>
      <p:sp>
        <p:nvSpPr>
          <p:cNvPr id="19" name="Text 17"/>
          <p:cNvSpPr/>
          <p:nvPr/>
        </p:nvSpPr>
        <p:spPr>
          <a:xfrm>
            <a:off x="548640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E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08857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000" b="1" dirty="0">
                <a:solidFill>
                  <a:srgbClr val="7E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ar-SA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40719" y="56692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39D98A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384048"/>
            <a:ext cx="99971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منصّة متعددة الصالات</a:t>
            </a:r>
            <a:endParaRPr lang="ar-SA" sz="3000" dirty="0"/>
          </a:p>
        </p:txBody>
      </p:sp>
      <p:sp>
        <p:nvSpPr>
          <p:cNvPr id="4" name="Text 2"/>
          <p:cNvSpPr/>
          <p:nvPr/>
        </p:nvSpPr>
        <p:spPr>
          <a:xfrm>
            <a:off x="1097280" y="1024128"/>
            <a:ext cx="99971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Multi-tenant SaaS — نموذج B2B2C قابل للتوسّع</a:t>
            </a:r>
            <a:endParaRPr lang="ar-SA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45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الصالة هي الكيان المركزي: عدد غير محدود من الصالات تعمل على نفس البنية، لكلٍّ منها أعضاؤها ومدرّبوها وخطّتها المالية المنفصلة.</a:t>
            </a:r>
            <a:endParaRPr lang="ar-SA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834640"/>
            <a:ext cx="2556434" cy="2286000"/>
          </a:xfrm>
          <a:prstGeom prst="roundRect">
            <a:avLst>
              <a:gd name="adj" fmla="val 3200"/>
            </a:avLst>
          </a:prstGeom>
          <a:solidFill>
            <a:srgbClr val="2E2F3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154680"/>
            <a:ext cx="255643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77240" y="3794760"/>
            <a:ext cx="228211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المشرف العام</a:t>
            </a:r>
            <a:endParaRPr lang="ar-SA" sz="1550" dirty="0"/>
          </a:p>
        </p:txBody>
      </p:sp>
      <p:sp>
        <p:nvSpPr>
          <p:cNvPr id="9" name="Text 7"/>
          <p:cNvSpPr/>
          <p:nvPr/>
        </p:nvSpPr>
        <p:spPr>
          <a:xfrm>
            <a:off x="777240" y="4297680"/>
            <a:ext cx="228211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ar-SA" altLang="en-US" sz="12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يدير كل الصالات</a:t>
            </a:r>
            <a:endParaRPr lang="ar-SA" sz="1200" dirty="0"/>
          </a:p>
        </p:txBody>
      </p:sp>
      <p:sp>
        <p:nvSpPr>
          <p:cNvPr id="10" name="Shape 8"/>
          <p:cNvSpPr/>
          <p:nvPr/>
        </p:nvSpPr>
        <p:spPr>
          <a:xfrm>
            <a:off x="3425114" y="2834640"/>
            <a:ext cx="2556434" cy="2286000"/>
          </a:xfrm>
          <a:prstGeom prst="roundRect">
            <a:avLst>
              <a:gd name="adj" fmla="val 3200"/>
            </a:avLst>
          </a:prstGeom>
          <a:solidFill>
            <a:srgbClr val="26262C"/>
          </a:solidFill>
          <a:ln/>
        </p:spPr>
      </p:sp>
      <p:sp>
        <p:nvSpPr>
          <p:cNvPr id="11" name="Text 9"/>
          <p:cNvSpPr/>
          <p:nvPr/>
        </p:nvSpPr>
        <p:spPr>
          <a:xfrm>
            <a:off x="3425114" y="3154680"/>
            <a:ext cx="255643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562274" y="3794760"/>
            <a:ext cx="228211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إدارة الصالة</a:t>
            </a:r>
            <a:endParaRPr lang="ar-SA" sz="1550" dirty="0"/>
          </a:p>
        </p:txBody>
      </p:sp>
      <p:sp>
        <p:nvSpPr>
          <p:cNvPr id="13" name="Text 11"/>
          <p:cNvSpPr/>
          <p:nvPr/>
        </p:nvSpPr>
        <p:spPr>
          <a:xfrm>
            <a:off x="3562274" y="4297680"/>
            <a:ext cx="228211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ar-SA" altLang="en-US" sz="12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تدير صالة كاملة</a:t>
            </a:r>
            <a:endParaRPr lang="ar-SA" sz="1200" dirty="0"/>
          </a:p>
        </p:txBody>
      </p:sp>
      <p:sp>
        <p:nvSpPr>
          <p:cNvPr id="14" name="Shape 12"/>
          <p:cNvSpPr/>
          <p:nvPr/>
        </p:nvSpPr>
        <p:spPr>
          <a:xfrm>
            <a:off x="6210148" y="2834640"/>
            <a:ext cx="2556434" cy="2286000"/>
          </a:xfrm>
          <a:prstGeom prst="roundRect">
            <a:avLst>
              <a:gd name="adj" fmla="val 3200"/>
            </a:avLst>
          </a:prstGeom>
          <a:solidFill>
            <a:srgbClr val="26262C"/>
          </a:solidFill>
          <a:ln/>
        </p:spPr>
      </p:sp>
      <p:sp>
        <p:nvSpPr>
          <p:cNvPr id="15" name="Text 13"/>
          <p:cNvSpPr/>
          <p:nvPr/>
        </p:nvSpPr>
        <p:spPr>
          <a:xfrm>
            <a:off x="6210148" y="3154680"/>
            <a:ext cx="255643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347308" y="3794760"/>
            <a:ext cx="228211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المدرّب</a:t>
            </a:r>
            <a:endParaRPr lang="ar-SA" sz="1550" dirty="0"/>
          </a:p>
        </p:txBody>
      </p:sp>
      <p:sp>
        <p:nvSpPr>
          <p:cNvPr id="17" name="Text 15"/>
          <p:cNvSpPr/>
          <p:nvPr/>
        </p:nvSpPr>
        <p:spPr>
          <a:xfrm>
            <a:off x="6347308" y="4297680"/>
            <a:ext cx="228211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ar-SA" altLang="en-US" sz="12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يتابع لاعبيه</a:t>
            </a:r>
            <a:endParaRPr lang="ar-SA" sz="1200" dirty="0"/>
          </a:p>
        </p:txBody>
      </p:sp>
      <p:sp>
        <p:nvSpPr>
          <p:cNvPr id="18" name="Shape 16"/>
          <p:cNvSpPr/>
          <p:nvPr/>
        </p:nvSpPr>
        <p:spPr>
          <a:xfrm>
            <a:off x="8995181" y="2834640"/>
            <a:ext cx="2556434" cy="2286000"/>
          </a:xfrm>
          <a:prstGeom prst="roundRect">
            <a:avLst>
              <a:gd name="adj" fmla="val 3200"/>
            </a:avLst>
          </a:prstGeom>
          <a:solidFill>
            <a:srgbClr val="26262C"/>
          </a:solidFill>
          <a:ln/>
        </p:spPr>
      </p:sp>
      <p:sp>
        <p:nvSpPr>
          <p:cNvPr id="19" name="Text 17"/>
          <p:cNvSpPr/>
          <p:nvPr/>
        </p:nvSpPr>
        <p:spPr>
          <a:xfrm>
            <a:off x="8995181" y="3154680"/>
            <a:ext cx="255643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132341" y="3794760"/>
            <a:ext cx="228211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المتدرّب</a:t>
            </a:r>
            <a:endParaRPr lang="ar-SA" sz="1550" dirty="0"/>
          </a:p>
        </p:txBody>
      </p:sp>
      <p:sp>
        <p:nvSpPr>
          <p:cNvPr id="21" name="Text 19"/>
          <p:cNvSpPr/>
          <p:nvPr/>
        </p:nvSpPr>
        <p:spPr>
          <a:xfrm>
            <a:off x="9132341" y="4297680"/>
            <a:ext cx="228211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ar-SA" altLang="en-US" sz="12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المستخدم النهائي</a:t>
            </a:r>
            <a:endParaRPr lang="ar-SA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580644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300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تسلسل صلاحيات صارم — لكل دور لوحة تحكم وواجهات مخصّصة بالكامل.</a:t>
            </a:r>
            <a:endParaRPr lang="ar-SA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E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08857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000" b="1" dirty="0">
                <a:solidFill>
                  <a:srgbClr val="7E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ar-SA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40719" y="56692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39D98A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384048"/>
            <a:ext cx="99971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الذي يقدّمه نيكسوس</a:t>
            </a:r>
            <a:endParaRPr lang="ar-SA" sz="3000" dirty="0"/>
          </a:p>
        </p:txBody>
      </p:sp>
      <p:sp>
        <p:nvSpPr>
          <p:cNvPr id="4" name="Text 2"/>
          <p:cNvSpPr/>
          <p:nvPr/>
        </p:nvSpPr>
        <p:spPr>
          <a:xfrm>
            <a:off x="1097280" y="1024128"/>
            <a:ext cx="99971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ست منظومات متكاملة داخل التطبيق</a:t>
            </a:r>
            <a:endParaRPr lang="ar-SA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454298" cy="1828800"/>
          </a:xfrm>
          <a:prstGeom prst="roundRect">
            <a:avLst>
              <a:gd name="adj" fmla="val 4000"/>
            </a:avLst>
          </a:prstGeom>
          <a:solidFill>
            <a:srgbClr val="26262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1488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9D98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121408"/>
            <a:ext cx="231129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التمرين الذكي</a:t>
            </a:r>
            <a:endParaRPr lang="ar-SA" sz="1550" dirty="0"/>
          </a:p>
        </p:txBody>
      </p:sp>
      <p:sp>
        <p:nvSpPr>
          <p:cNvPr id="9" name="Text 7"/>
          <p:cNvSpPr/>
          <p:nvPr/>
        </p:nvSpPr>
        <p:spPr>
          <a:xfrm>
            <a:off x="914400" y="2788920"/>
            <a:ext cx="290565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خطط تلقائية، جلسات نشطة، تتبّع كامل</a:t>
            </a:r>
            <a:endParaRPr lang="ar-SA" sz="1200" dirty="0"/>
          </a:p>
        </p:txBody>
      </p:sp>
      <p:sp>
        <p:nvSpPr>
          <p:cNvPr id="10" name="Shape 8"/>
          <p:cNvSpPr/>
          <p:nvPr/>
        </p:nvSpPr>
        <p:spPr>
          <a:xfrm>
            <a:off x="4368698" y="1828800"/>
            <a:ext cx="3454298" cy="1828800"/>
          </a:xfrm>
          <a:prstGeom prst="roundRect">
            <a:avLst>
              <a:gd name="adj" fmla="val 4000"/>
            </a:avLst>
          </a:prstGeom>
          <a:solidFill>
            <a:srgbClr val="26262C"/>
          </a:solidFill>
          <a:ln/>
        </p:spPr>
      </p:sp>
      <p:sp>
        <p:nvSpPr>
          <p:cNvPr id="11" name="Shape 9"/>
          <p:cNvSpPr/>
          <p:nvPr/>
        </p:nvSpPr>
        <p:spPr>
          <a:xfrm>
            <a:off x="4643018" y="21488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9D98A"/>
          </a:solidFill>
          <a:ln/>
        </p:spPr>
      </p:sp>
      <p:sp>
        <p:nvSpPr>
          <p:cNvPr id="12" name="Text 10"/>
          <p:cNvSpPr/>
          <p:nvPr/>
        </p:nvSpPr>
        <p:spPr>
          <a:xfrm>
            <a:off x="4643018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283098" y="2121408"/>
            <a:ext cx="231129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التغذية</a:t>
            </a:r>
            <a:endParaRPr lang="ar-SA" sz="1550" dirty="0"/>
          </a:p>
        </p:txBody>
      </p:sp>
      <p:sp>
        <p:nvSpPr>
          <p:cNvPr id="14" name="Text 12"/>
          <p:cNvSpPr/>
          <p:nvPr/>
        </p:nvSpPr>
        <p:spPr>
          <a:xfrm>
            <a:off x="4643018" y="2788920"/>
            <a:ext cx="290565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قواعد أطعمة ضخمة وتتبّع وخطط مخصّصة</a:t>
            </a:r>
            <a:endParaRPr lang="ar-SA" sz="1200" dirty="0"/>
          </a:p>
        </p:txBody>
      </p:sp>
      <p:sp>
        <p:nvSpPr>
          <p:cNvPr id="15" name="Shape 13"/>
          <p:cNvSpPr/>
          <p:nvPr/>
        </p:nvSpPr>
        <p:spPr>
          <a:xfrm>
            <a:off x="8097317" y="1828800"/>
            <a:ext cx="3454298" cy="1828800"/>
          </a:xfrm>
          <a:prstGeom prst="roundRect">
            <a:avLst>
              <a:gd name="adj" fmla="val 4000"/>
            </a:avLst>
          </a:prstGeom>
          <a:solidFill>
            <a:srgbClr val="26262C"/>
          </a:solidFill>
          <a:ln/>
        </p:spPr>
      </p:sp>
      <p:sp>
        <p:nvSpPr>
          <p:cNvPr id="16" name="Shape 14"/>
          <p:cNvSpPr/>
          <p:nvPr/>
        </p:nvSpPr>
        <p:spPr>
          <a:xfrm>
            <a:off x="8371637" y="21488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9D98A"/>
          </a:solidFill>
          <a:ln/>
        </p:spPr>
      </p:sp>
      <p:sp>
        <p:nvSpPr>
          <p:cNvPr id="17" name="Text 15"/>
          <p:cNvSpPr/>
          <p:nvPr/>
        </p:nvSpPr>
        <p:spPr>
          <a:xfrm>
            <a:off x="8371637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011717" y="2121408"/>
            <a:ext cx="231129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 الاصطناعي</a:t>
            </a:r>
            <a:endParaRPr lang="ar-SA" sz="1550" dirty="0"/>
          </a:p>
        </p:txBody>
      </p:sp>
      <p:sp>
        <p:nvSpPr>
          <p:cNvPr id="19" name="Text 17"/>
          <p:cNvSpPr/>
          <p:nvPr/>
        </p:nvSpPr>
        <p:spPr>
          <a:xfrm>
            <a:off x="8371637" y="2788920"/>
            <a:ext cx="290565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تحليل أداء وطعام وقياسات الجسم</a:t>
            </a:r>
            <a:endParaRPr lang="ar-SA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3840480"/>
            <a:ext cx="3454298" cy="1828800"/>
          </a:xfrm>
          <a:prstGeom prst="roundRect">
            <a:avLst>
              <a:gd name="adj" fmla="val 4000"/>
            </a:avLst>
          </a:prstGeom>
          <a:solidFill>
            <a:srgbClr val="26262C"/>
          </a:solidFill>
          <a:ln/>
        </p:spPr>
      </p:sp>
      <p:sp>
        <p:nvSpPr>
          <p:cNvPr id="21" name="Shape 19"/>
          <p:cNvSpPr/>
          <p:nvPr/>
        </p:nvSpPr>
        <p:spPr>
          <a:xfrm>
            <a:off x="914400" y="41605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9D98A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54480" y="4133088"/>
            <a:ext cx="231129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الأجهزة الصحية</a:t>
            </a:r>
            <a:endParaRPr lang="ar-SA" sz="1550" dirty="0"/>
          </a:p>
        </p:txBody>
      </p:sp>
      <p:sp>
        <p:nvSpPr>
          <p:cNvPr id="24" name="Text 22"/>
          <p:cNvSpPr/>
          <p:nvPr/>
        </p:nvSpPr>
        <p:spPr>
          <a:xfrm>
            <a:off x="914400" y="4800600"/>
            <a:ext cx="290565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ربط Apple/Google Health وأجهزة BLE</a:t>
            </a:r>
            <a:endParaRPr lang="ar-SA" sz="1200" dirty="0"/>
          </a:p>
        </p:txBody>
      </p:sp>
      <p:sp>
        <p:nvSpPr>
          <p:cNvPr id="25" name="Shape 23"/>
          <p:cNvSpPr/>
          <p:nvPr/>
        </p:nvSpPr>
        <p:spPr>
          <a:xfrm>
            <a:off x="4368698" y="3840480"/>
            <a:ext cx="3454298" cy="1828800"/>
          </a:xfrm>
          <a:prstGeom prst="roundRect">
            <a:avLst>
              <a:gd name="adj" fmla="val 4000"/>
            </a:avLst>
          </a:prstGeom>
          <a:solidFill>
            <a:srgbClr val="26262C"/>
          </a:solidFill>
          <a:ln/>
        </p:spPr>
      </p:sp>
      <p:sp>
        <p:nvSpPr>
          <p:cNvPr id="26" name="Shape 24"/>
          <p:cNvSpPr/>
          <p:nvPr/>
        </p:nvSpPr>
        <p:spPr>
          <a:xfrm>
            <a:off x="4643018" y="41605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9D98A"/>
          </a:solidFill>
          <a:ln/>
        </p:spPr>
      </p:sp>
      <p:sp>
        <p:nvSpPr>
          <p:cNvPr id="27" name="Text 25"/>
          <p:cNvSpPr/>
          <p:nvPr/>
        </p:nvSpPr>
        <p:spPr>
          <a:xfrm>
            <a:off x="4643018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283098" y="4133088"/>
            <a:ext cx="231129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المجتمع والتحفيز</a:t>
            </a:r>
            <a:endParaRPr lang="ar-SA" sz="1550" dirty="0"/>
          </a:p>
        </p:txBody>
      </p:sp>
      <p:sp>
        <p:nvSpPr>
          <p:cNvPr id="29" name="Text 27"/>
          <p:cNvSpPr/>
          <p:nvPr/>
        </p:nvSpPr>
        <p:spPr>
          <a:xfrm>
            <a:off x="4643018" y="4800600"/>
            <a:ext cx="290565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منشورات، تحدّيات، كؤوس وجوائز</a:t>
            </a:r>
            <a:endParaRPr lang="ar-SA" sz="1200" dirty="0"/>
          </a:p>
        </p:txBody>
      </p:sp>
      <p:sp>
        <p:nvSpPr>
          <p:cNvPr id="30" name="Shape 28"/>
          <p:cNvSpPr/>
          <p:nvPr/>
        </p:nvSpPr>
        <p:spPr>
          <a:xfrm>
            <a:off x="8097317" y="3840480"/>
            <a:ext cx="3454298" cy="1828800"/>
          </a:xfrm>
          <a:prstGeom prst="roundRect">
            <a:avLst>
              <a:gd name="adj" fmla="val 4000"/>
            </a:avLst>
          </a:prstGeom>
          <a:solidFill>
            <a:srgbClr val="26262C"/>
          </a:solidFill>
          <a:ln/>
        </p:spPr>
      </p:sp>
      <p:sp>
        <p:nvSpPr>
          <p:cNvPr id="31" name="Shape 29"/>
          <p:cNvSpPr/>
          <p:nvPr/>
        </p:nvSpPr>
        <p:spPr>
          <a:xfrm>
            <a:off x="8371637" y="41605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9D98A"/>
          </a:solidFill>
          <a:ln/>
        </p:spPr>
      </p:sp>
      <p:sp>
        <p:nvSpPr>
          <p:cNvPr id="32" name="Text 30"/>
          <p:cNvSpPr/>
          <p:nvPr/>
        </p:nvSpPr>
        <p:spPr>
          <a:xfrm>
            <a:off x="8371637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011717" y="4133088"/>
            <a:ext cx="231129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المدفوعات</a:t>
            </a:r>
            <a:endParaRPr lang="ar-SA" sz="1550" dirty="0"/>
          </a:p>
        </p:txBody>
      </p:sp>
      <p:sp>
        <p:nvSpPr>
          <p:cNvPr id="34" name="Text 32"/>
          <p:cNvSpPr/>
          <p:nvPr/>
        </p:nvSpPr>
        <p:spPr>
          <a:xfrm>
            <a:off x="8371637" y="4800600"/>
            <a:ext cx="290565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اشتراكات وعمولات وفواتير</a:t>
            </a:r>
            <a:endParaRPr lang="ar-SA" sz="1200" dirty="0"/>
          </a:p>
        </p:txBody>
      </p:sp>
      <p:sp>
        <p:nvSpPr>
          <p:cNvPr id="35" name="Text 33"/>
          <p:cNvSpPr/>
          <p:nvPr/>
        </p:nvSpPr>
        <p:spPr>
          <a:xfrm>
            <a:off x="548640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E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008857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000" b="1" dirty="0">
                <a:solidFill>
                  <a:srgbClr val="7E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ar-SA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40719" y="56692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39D98A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384048"/>
            <a:ext cx="99971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 الاصطناعي — ميزتنا الأبرز</a:t>
            </a:r>
            <a:endParaRPr lang="ar-SA" sz="3000" dirty="0"/>
          </a:p>
        </p:txBody>
      </p:sp>
      <p:sp>
        <p:nvSpPr>
          <p:cNvPr id="4" name="Text 2"/>
          <p:cNvSpPr/>
          <p:nvPr/>
        </p:nvSpPr>
        <p:spPr>
          <a:xfrm>
            <a:off x="1097280" y="1024128"/>
            <a:ext cx="99971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مدعوم بنموذج Google Gemini</a:t>
            </a:r>
            <a:endParaRPr lang="ar-SA" sz="1300" dirty="0"/>
          </a:p>
        </p:txBody>
      </p:sp>
      <p:sp>
        <p:nvSpPr>
          <p:cNvPr id="5" name="Shape 3"/>
          <p:cNvSpPr/>
          <p:nvPr/>
        </p:nvSpPr>
        <p:spPr>
          <a:xfrm>
            <a:off x="609448" y="2103120"/>
            <a:ext cx="3383280" cy="3200400"/>
          </a:xfrm>
          <a:prstGeom prst="roundRect">
            <a:avLst>
              <a:gd name="adj" fmla="val 2286"/>
            </a:avLst>
          </a:prstGeom>
          <a:solidFill>
            <a:srgbClr val="2E2F36"/>
          </a:solidFill>
          <a:ln/>
        </p:spPr>
      </p:sp>
      <p:sp>
        <p:nvSpPr>
          <p:cNvPr id="6" name="Text 4"/>
          <p:cNvSpPr/>
          <p:nvPr/>
        </p:nvSpPr>
        <p:spPr>
          <a:xfrm>
            <a:off x="883768" y="237744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83768" y="310896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تحليل أداء التمرين</a:t>
            </a:r>
            <a:endParaRPr lang="ar-SA" sz="1600" dirty="0"/>
          </a:p>
        </p:txBody>
      </p:sp>
      <p:sp>
        <p:nvSpPr>
          <p:cNvPr id="8" name="Text 6"/>
          <p:cNvSpPr/>
          <p:nvPr/>
        </p:nvSpPr>
        <p:spPr>
          <a:xfrm>
            <a:off x="883768" y="3703320"/>
            <a:ext cx="2834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فيديو لأدائك ← تحليل بيوميكانيكي صريح للأخطاء وبدائل أأمن حسب مستواك.</a:t>
            </a:r>
            <a:endParaRPr lang="ar-SA" sz="1300" dirty="0"/>
          </a:p>
        </p:txBody>
      </p:sp>
      <p:sp>
        <p:nvSpPr>
          <p:cNvPr id="9" name="Shape 7"/>
          <p:cNvSpPr/>
          <p:nvPr/>
        </p:nvSpPr>
        <p:spPr>
          <a:xfrm>
            <a:off x="4404208" y="2103120"/>
            <a:ext cx="3383280" cy="3200400"/>
          </a:xfrm>
          <a:prstGeom prst="roundRect">
            <a:avLst>
              <a:gd name="adj" fmla="val 2286"/>
            </a:avLst>
          </a:prstGeom>
          <a:solidFill>
            <a:srgbClr val="2E2F36"/>
          </a:solidFill>
          <a:ln/>
        </p:spPr>
      </p:sp>
      <p:sp>
        <p:nvSpPr>
          <p:cNvPr id="10" name="Text 8"/>
          <p:cNvSpPr/>
          <p:nvPr/>
        </p:nvSpPr>
        <p:spPr>
          <a:xfrm>
            <a:off x="4678528" y="237744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678528" y="310896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ماسح الطعام</a:t>
            </a:r>
            <a:endParaRPr lang="ar-SA" sz="1600" dirty="0"/>
          </a:p>
        </p:txBody>
      </p:sp>
      <p:sp>
        <p:nvSpPr>
          <p:cNvPr id="12" name="Text 10"/>
          <p:cNvSpPr/>
          <p:nvPr/>
        </p:nvSpPr>
        <p:spPr>
          <a:xfrm>
            <a:off x="4678528" y="3703320"/>
            <a:ext cx="2834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صورة لوجبتك ← تعرّف تلقائي على الطعام وتقدير السعرات والماكروز.</a:t>
            </a:r>
            <a:endParaRPr lang="ar-SA" sz="1300" dirty="0"/>
          </a:p>
        </p:txBody>
      </p:sp>
      <p:sp>
        <p:nvSpPr>
          <p:cNvPr id="13" name="Shape 11"/>
          <p:cNvSpPr/>
          <p:nvPr/>
        </p:nvSpPr>
        <p:spPr>
          <a:xfrm>
            <a:off x="8198968" y="2103120"/>
            <a:ext cx="3383280" cy="3200400"/>
          </a:xfrm>
          <a:prstGeom prst="roundRect">
            <a:avLst>
              <a:gd name="adj" fmla="val 2286"/>
            </a:avLst>
          </a:prstGeom>
          <a:solidFill>
            <a:srgbClr val="2E2F36"/>
          </a:solidFill>
          <a:ln/>
        </p:spPr>
      </p:sp>
      <p:sp>
        <p:nvSpPr>
          <p:cNvPr id="14" name="Text 12"/>
          <p:cNvSpPr/>
          <p:nvPr/>
        </p:nvSpPr>
        <p:spPr>
          <a:xfrm>
            <a:off x="8473288" y="237744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473288" y="310896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تحليل قياسات الجسم</a:t>
            </a:r>
            <a:endParaRPr lang="ar-SA" sz="1600" dirty="0"/>
          </a:p>
        </p:txBody>
      </p:sp>
      <p:sp>
        <p:nvSpPr>
          <p:cNvPr id="16" name="Text 14"/>
          <p:cNvSpPr/>
          <p:nvPr/>
        </p:nvSpPr>
        <p:spPr>
          <a:xfrm>
            <a:off x="8473288" y="3703320"/>
            <a:ext cx="2834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صورة تقرير InBody ← استخراج الوزن والدهون والكتلة العضلية والأيض آليًا.</a:t>
            </a:r>
            <a:endParaRPr lang="ar-SA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576072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250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ميزة دفاعية: المخرجات بصيغة JSON منظّمة، والمفاتيح تُدار عن بُعد عبر Remote Config.</a:t>
            </a:r>
            <a:endParaRPr lang="ar-SA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E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08857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000" b="1" dirty="0">
                <a:solidFill>
                  <a:srgbClr val="7E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ar-SA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40719" y="56692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39D98A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384048"/>
            <a:ext cx="99971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التمرين الذكي</a:t>
            </a:r>
            <a:endParaRPr lang="ar-SA" sz="3000" dirty="0"/>
          </a:p>
        </p:txBody>
      </p:sp>
      <p:sp>
        <p:nvSpPr>
          <p:cNvPr id="4" name="Text 2"/>
          <p:cNvSpPr/>
          <p:nvPr/>
        </p:nvSpPr>
        <p:spPr>
          <a:xfrm>
            <a:off x="1097280" y="1024128"/>
            <a:ext cx="99971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Workout — من الخطة إلى التنفيذ</a:t>
            </a:r>
            <a:endParaRPr lang="ar-SA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272888" cy="1828800"/>
          </a:xfrm>
          <a:prstGeom prst="roundRect">
            <a:avLst>
              <a:gd name="adj" fmla="val 4000"/>
            </a:avLst>
          </a:prstGeom>
          <a:solidFill>
            <a:srgbClr val="26262C"/>
          </a:solidFill>
          <a:ln/>
        </p:spPr>
      </p:sp>
      <p:sp>
        <p:nvSpPr>
          <p:cNvPr id="6" name="Text 4"/>
          <p:cNvSpPr/>
          <p:nvPr/>
        </p:nvSpPr>
        <p:spPr>
          <a:xfrm>
            <a:off x="4907128" y="205740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3A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2103120"/>
            <a:ext cx="4084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معالج التقسيمة</a:t>
            </a:r>
            <a:endParaRPr lang="ar-SA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2697480"/>
            <a:ext cx="463280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اختر أيامك ونوع التقسيمة (مثل Push/Pull/Legs) فتُبنى الخطة تلقائيًا.</a:t>
            </a:r>
            <a:endParaRPr lang="ar-SA" sz="1300" dirty="0"/>
          </a:p>
        </p:txBody>
      </p:sp>
      <p:sp>
        <p:nvSpPr>
          <p:cNvPr id="9" name="Shape 7"/>
          <p:cNvSpPr/>
          <p:nvPr/>
        </p:nvSpPr>
        <p:spPr>
          <a:xfrm>
            <a:off x="6278728" y="1828800"/>
            <a:ext cx="5272888" cy="1828800"/>
          </a:xfrm>
          <a:prstGeom prst="roundRect">
            <a:avLst>
              <a:gd name="adj" fmla="val 4000"/>
            </a:avLst>
          </a:prstGeom>
          <a:solidFill>
            <a:srgbClr val="26262C"/>
          </a:solidFill>
          <a:ln/>
        </p:spPr>
      </p:sp>
      <p:sp>
        <p:nvSpPr>
          <p:cNvPr id="10" name="Text 8"/>
          <p:cNvSpPr/>
          <p:nvPr/>
        </p:nvSpPr>
        <p:spPr>
          <a:xfrm>
            <a:off x="10545775" y="205740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3A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598768" y="2103120"/>
            <a:ext cx="4084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مولّد الخطط</a:t>
            </a:r>
            <a:endParaRPr lang="ar-SA" sz="1600" dirty="0"/>
          </a:p>
        </p:txBody>
      </p:sp>
      <p:sp>
        <p:nvSpPr>
          <p:cNvPr id="12" name="Text 10"/>
          <p:cNvSpPr/>
          <p:nvPr/>
        </p:nvSpPr>
        <p:spPr>
          <a:xfrm>
            <a:off x="6598768" y="2697480"/>
            <a:ext cx="463280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برنامج أسبوعي يُولَّد من كتالوج تمارين غني (PlanGenerator).</a:t>
            </a:r>
            <a:endParaRPr lang="ar-SA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886200"/>
            <a:ext cx="5272888" cy="1828800"/>
          </a:xfrm>
          <a:prstGeom prst="roundRect">
            <a:avLst>
              <a:gd name="adj" fmla="val 4000"/>
            </a:avLst>
          </a:prstGeom>
          <a:solidFill>
            <a:srgbClr val="26262C"/>
          </a:solidFill>
          <a:ln/>
        </p:spPr>
      </p:sp>
      <p:sp>
        <p:nvSpPr>
          <p:cNvPr id="14" name="Text 12"/>
          <p:cNvSpPr/>
          <p:nvPr/>
        </p:nvSpPr>
        <p:spPr>
          <a:xfrm>
            <a:off x="4907128" y="411480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3A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60120" y="4160520"/>
            <a:ext cx="4084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الجلسة النشطة</a:t>
            </a:r>
            <a:endParaRPr lang="ar-SA" sz="1600" dirty="0"/>
          </a:p>
        </p:txBody>
      </p:sp>
      <p:sp>
        <p:nvSpPr>
          <p:cNvPr id="16" name="Text 14"/>
          <p:cNvSpPr/>
          <p:nvPr/>
        </p:nvSpPr>
        <p:spPr>
          <a:xfrm>
            <a:off x="960120" y="4754880"/>
            <a:ext cx="463280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تسجيل المجموعات والأوزان لحظيًا أثناء التمرين.</a:t>
            </a:r>
            <a:endParaRPr lang="ar-SA" sz="1300" dirty="0"/>
          </a:p>
        </p:txBody>
      </p:sp>
      <p:sp>
        <p:nvSpPr>
          <p:cNvPr id="17" name="Shape 15"/>
          <p:cNvSpPr/>
          <p:nvPr/>
        </p:nvSpPr>
        <p:spPr>
          <a:xfrm>
            <a:off x="6278728" y="3886200"/>
            <a:ext cx="5272888" cy="1828800"/>
          </a:xfrm>
          <a:prstGeom prst="roundRect">
            <a:avLst>
              <a:gd name="adj" fmla="val 4000"/>
            </a:avLst>
          </a:prstGeom>
          <a:solidFill>
            <a:srgbClr val="26262C"/>
          </a:solidFill>
          <a:ln/>
        </p:spPr>
      </p:sp>
      <p:sp>
        <p:nvSpPr>
          <p:cNvPr id="18" name="Text 16"/>
          <p:cNvSpPr/>
          <p:nvPr/>
        </p:nvSpPr>
        <p:spPr>
          <a:xfrm>
            <a:off x="10545775" y="411480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3A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598768" y="4160520"/>
            <a:ext cx="4084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المرونة</a:t>
            </a:r>
            <a:endParaRPr lang="ar-SA" sz="1600" dirty="0"/>
          </a:p>
        </p:txBody>
      </p:sp>
      <p:sp>
        <p:nvSpPr>
          <p:cNvPr id="20" name="Text 18"/>
          <p:cNvSpPr/>
          <p:nvPr/>
        </p:nvSpPr>
        <p:spPr>
          <a:xfrm>
            <a:off x="6598768" y="4754880"/>
            <a:ext cx="463280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تسجيل سريع، استبدال التمارين، وسجل تدريبي كامل.</a:t>
            </a:r>
            <a:endParaRPr lang="ar-SA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E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08857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000" b="1" dirty="0">
                <a:solidFill>
                  <a:srgbClr val="7E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ar-SA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40719" y="56692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39D98A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384048"/>
            <a:ext cx="99971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التغذية</a:t>
            </a:r>
            <a:endParaRPr lang="ar-SA" sz="3000" dirty="0"/>
          </a:p>
        </p:txBody>
      </p:sp>
      <p:sp>
        <p:nvSpPr>
          <p:cNvPr id="4" name="Text 2"/>
          <p:cNvSpPr/>
          <p:nvPr/>
        </p:nvSpPr>
        <p:spPr>
          <a:xfrm>
            <a:off x="1097280" y="1024128"/>
            <a:ext cx="99971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أكبر وحدة في التطبيق — 16 شاشة متكاملة</a:t>
            </a:r>
            <a:endParaRPr lang="ar-SA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911535" cy="4206240"/>
          </a:xfrm>
          <a:prstGeom prst="roundRect">
            <a:avLst>
              <a:gd name="adj" fmla="val 1739"/>
            </a:avLst>
          </a:prstGeom>
          <a:solidFill>
            <a:srgbClr val="26262C"/>
          </a:solidFill>
          <a:ln/>
        </p:spPr>
      </p:sp>
      <p:sp>
        <p:nvSpPr>
          <p:cNvPr id="6" name="Shape 4"/>
          <p:cNvSpPr/>
          <p:nvPr/>
        </p:nvSpPr>
        <p:spPr>
          <a:xfrm>
            <a:off x="10911535" y="218541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9D98A"/>
          </a:solidFill>
          <a:ln/>
        </p:spPr>
      </p:sp>
      <p:sp>
        <p:nvSpPr>
          <p:cNvPr id="7" name="Text 5"/>
          <p:cNvSpPr/>
          <p:nvPr/>
        </p:nvSpPr>
        <p:spPr>
          <a:xfrm>
            <a:off x="10911535" y="21671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103120"/>
            <a:ext cx="97228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قاعدة أطعمة ضخمة (عشرات الآلاف من الأصناف بالعربية والإنجليزية)</a:t>
            </a:r>
            <a:endParaRPr lang="ar-SA" sz="1450" dirty="0"/>
          </a:p>
        </p:txBody>
      </p:sp>
      <p:sp>
        <p:nvSpPr>
          <p:cNvPr id="9" name="Shape 7"/>
          <p:cNvSpPr/>
          <p:nvPr/>
        </p:nvSpPr>
        <p:spPr>
          <a:xfrm>
            <a:off x="10911535" y="293522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9D98A"/>
          </a:solidFill>
          <a:ln/>
        </p:spPr>
      </p:sp>
      <p:sp>
        <p:nvSpPr>
          <p:cNvPr id="10" name="Text 8"/>
          <p:cNvSpPr/>
          <p:nvPr/>
        </p:nvSpPr>
        <p:spPr>
          <a:xfrm>
            <a:off x="10911535" y="291693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852928"/>
            <a:ext cx="97228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بحث وتتبّع الوجبات وخطة وجبات يومية</a:t>
            </a:r>
            <a:endParaRPr lang="ar-SA" sz="1450" dirty="0"/>
          </a:p>
        </p:txBody>
      </p:sp>
      <p:sp>
        <p:nvSpPr>
          <p:cNvPr id="12" name="Shape 10"/>
          <p:cNvSpPr/>
          <p:nvPr/>
        </p:nvSpPr>
        <p:spPr>
          <a:xfrm>
            <a:off x="10911535" y="368503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9D98A"/>
          </a:solidFill>
          <a:ln/>
        </p:spPr>
      </p:sp>
      <p:sp>
        <p:nvSpPr>
          <p:cNvPr id="13" name="Text 11"/>
          <p:cNvSpPr/>
          <p:nvPr/>
        </p:nvSpPr>
        <p:spPr>
          <a:xfrm>
            <a:off x="10911535" y="36667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3602736"/>
            <a:ext cx="97228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قوالب جاهزة (Templates) وبناء وجبة مخصّصة</a:t>
            </a:r>
            <a:endParaRPr lang="ar-SA" sz="1450" dirty="0"/>
          </a:p>
        </p:txBody>
      </p:sp>
      <p:sp>
        <p:nvSpPr>
          <p:cNvPr id="15" name="Shape 13"/>
          <p:cNvSpPr/>
          <p:nvPr/>
        </p:nvSpPr>
        <p:spPr>
          <a:xfrm>
            <a:off x="10911535" y="443484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9D98A"/>
          </a:solidFill>
          <a:ln/>
        </p:spPr>
      </p:sp>
      <p:sp>
        <p:nvSpPr>
          <p:cNvPr id="16" name="Text 14"/>
          <p:cNvSpPr/>
          <p:nvPr/>
        </p:nvSpPr>
        <p:spPr>
          <a:xfrm>
            <a:off x="10911535" y="441655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4352544"/>
            <a:ext cx="97228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متعقّب المكمّلات الغذائية وتوقيت الوجبات</a:t>
            </a:r>
            <a:endParaRPr lang="ar-SA" sz="1450" dirty="0"/>
          </a:p>
        </p:txBody>
      </p:sp>
      <p:sp>
        <p:nvSpPr>
          <p:cNvPr id="18" name="Shape 16"/>
          <p:cNvSpPr/>
          <p:nvPr/>
        </p:nvSpPr>
        <p:spPr>
          <a:xfrm>
            <a:off x="10911535" y="51846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9D98A"/>
          </a:solidFill>
          <a:ln/>
        </p:spPr>
      </p:sp>
      <p:sp>
        <p:nvSpPr>
          <p:cNvPr id="19" name="Text 17"/>
          <p:cNvSpPr/>
          <p:nvPr/>
        </p:nvSpPr>
        <p:spPr>
          <a:xfrm>
            <a:off x="10911535" y="51663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5102352"/>
            <a:ext cx="97228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خطة تغذية يضبطها المدرّب لكل لاعب</a:t>
            </a:r>
            <a:endParaRPr lang="ar-SA" sz="1450" dirty="0"/>
          </a:p>
        </p:txBody>
      </p:sp>
      <p:sp>
        <p:nvSpPr>
          <p:cNvPr id="21" name="Text 19"/>
          <p:cNvSpPr/>
          <p:nvPr/>
        </p:nvSpPr>
        <p:spPr>
          <a:xfrm>
            <a:off x="548640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E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08857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000" b="1" dirty="0">
                <a:solidFill>
                  <a:srgbClr val="7E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ar-SA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40719" y="56692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39D98A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384048"/>
            <a:ext cx="99971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الصحة والمجتمع والتحفيز</a:t>
            </a:r>
            <a:endParaRPr lang="ar-SA" sz="3000" dirty="0"/>
          </a:p>
        </p:txBody>
      </p:sp>
      <p:sp>
        <p:nvSpPr>
          <p:cNvPr id="4" name="Text 2"/>
          <p:cNvSpPr/>
          <p:nvPr/>
        </p:nvSpPr>
        <p:spPr>
          <a:xfrm>
            <a:off x="1097280" y="1024128"/>
            <a:ext cx="99971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ثلاث طبقات تزيد الالتزام والاحتفاظ</a:t>
            </a:r>
            <a:endParaRPr lang="ar-SA" sz="1300" dirty="0"/>
          </a:p>
        </p:txBody>
      </p:sp>
      <p:sp>
        <p:nvSpPr>
          <p:cNvPr id="5" name="Shape 3"/>
          <p:cNvSpPr/>
          <p:nvPr/>
        </p:nvSpPr>
        <p:spPr>
          <a:xfrm>
            <a:off x="609448" y="2103120"/>
            <a:ext cx="3383280" cy="3108960"/>
          </a:xfrm>
          <a:prstGeom prst="roundRect">
            <a:avLst>
              <a:gd name="adj" fmla="val 2353"/>
            </a:avLst>
          </a:prstGeom>
          <a:solidFill>
            <a:srgbClr val="26262C"/>
          </a:solidFill>
          <a:ln/>
        </p:spPr>
      </p:sp>
      <p:sp>
        <p:nvSpPr>
          <p:cNvPr id="6" name="Text 4"/>
          <p:cNvSpPr/>
          <p:nvPr/>
        </p:nvSpPr>
        <p:spPr>
          <a:xfrm>
            <a:off x="883768" y="235915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♥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83768" y="31089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الأجهزة الصحية</a:t>
            </a:r>
            <a:endParaRPr lang="ar-SA" sz="1600" dirty="0"/>
          </a:p>
        </p:txBody>
      </p:sp>
      <p:sp>
        <p:nvSpPr>
          <p:cNvPr id="8" name="Text 6"/>
          <p:cNvSpPr/>
          <p:nvPr/>
        </p:nvSpPr>
        <p:spPr>
          <a:xfrm>
            <a:off x="883768" y="3657600"/>
            <a:ext cx="2834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تكامل مع Apple/Google Health (نبض، خطوات، نوم، طاقة) وأجهزة Bluetooth، مع لوحة تعافٍ.</a:t>
            </a:r>
            <a:endParaRPr lang="ar-SA" sz="1300" dirty="0"/>
          </a:p>
        </p:txBody>
      </p:sp>
      <p:sp>
        <p:nvSpPr>
          <p:cNvPr id="9" name="Shape 7"/>
          <p:cNvSpPr/>
          <p:nvPr/>
        </p:nvSpPr>
        <p:spPr>
          <a:xfrm>
            <a:off x="4404208" y="2103120"/>
            <a:ext cx="3383280" cy="3108960"/>
          </a:xfrm>
          <a:prstGeom prst="roundRect">
            <a:avLst>
              <a:gd name="adj" fmla="val 2353"/>
            </a:avLst>
          </a:prstGeom>
          <a:solidFill>
            <a:srgbClr val="26262C"/>
          </a:solidFill>
          <a:ln/>
        </p:spPr>
      </p:sp>
      <p:sp>
        <p:nvSpPr>
          <p:cNvPr id="10" name="Text 8"/>
          <p:cNvSpPr/>
          <p:nvPr/>
        </p:nvSpPr>
        <p:spPr>
          <a:xfrm>
            <a:off x="4678528" y="235915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678528" y="31089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المجتمع</a:t>
            </a:r>
            <a:endParaRPr lang="ar-SA" sz="1600" dirty="0"/>
          </a:p>
        </p:txBody>
      </p:sp>
      <p:sp>
        <p:nvSpPr>
          <p:cNvPr id="12" name="Text 10"/>
          <p:cNvSpPr/>
          <p:nvPr/>
        </p:nvSpPr>
        <p:spPr>
          <a:xfrm>
            <a:off x="4678528" y="3657600"/>
            <a:ext cx="2834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منشورات وتعليقات وإعجابات وتحدّيات داخل التطبيق تبني روح الجماعة.</a:t>
            </a:r>
            <a:endParaRPr lang="ar-SA" sz="1300" dirty="0"/>
          </a:p>
        </p:txBody>
      </p:sp>
      <p:sp>
        <p:nvSpPr>
          <p:cNvPr id="13" name="Shape 11"/>
          <p:cNvSpPr/>
          <p:nvPr/>
        </p:nvSpPr>
        <p:spPr>
          <a:xfrm>
            <a:off x="8198968" y="2103120"/>
            <a:ext cx="3383280" cy="3108960"/>
          </a:xfrm>
          <a:prstGeom prst="roundRect">
            <a:avLst>
              <a:gd name="adj" fmla="val 2353"/>
            </a:avLst>
          </a:prstGeom>
          <a:solidFill>
            <a:srgbClr val="26262C"/>
          </a:solidFill>
          <a:ln/>
        </p:spPr>
      </p:sp>
      <p:sp>
        <p:nvSpPr>
          <p:cNvPr id="14" name="Text 12"/>
          <p:cNvSpPr/>
          <p:nvPr/>
        </p:nvSpPr>
        <p:spPr>
          <a:xfrm>
            <a:off x="8473288" y="235915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♚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473288" y="31089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التلعيب</a:t>
            </a:r>
            <a:endParaRPr lang="ar-SA" sz="1600" dirty="0"/>
          </a:p>
        </p:txBody>
      </p:sp>
      <p:sp>
        <p:nvSpPr>
          <p:cNvPr id="16" name="Text 14"/>
          <p:cNvSpPr/>
          <p:nvPr/>
        </p:nvSpPr>
        <p:spPr>
          <a:xfrm>
            <a:off x="8473288" y="3657600"/>
            <a:ext cx="2834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نظام كؤوس وجوائز يكافئ الإنجاز مع أنيميشن احتفالي يرفع التحفيز.</a:t>
            </a:r>
            <a:endParaRPr lang="ar-SA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E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08857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000" b="1" dirty="0">
                <a:solidFill>
                  <a:srgbClr val="7E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ar-SA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40719" y="56692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39D98A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384048"/>
            <a:ext cx="99971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نموذج الربح</a:t>
            </a:r>
            <a:endParaRPr lang="ar-SA" sz="3000" dirty="0"/>
          </a:p>
        </p:txBody>
      </p:sp>
      <p:sp>
        <p:nvSpPr>
          <p:cNvPr id="4" name="Text 2"/>
          <p:cNvSpPr/>
          <p:nvPr/>
        </p:nvSpPr>
        <p:spPr>
          <a:xfrm>
            <a:off x="1097280" y="1024128"/>
            <a:ext cx="99971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مصادر دخل متعددة عبر Stripe</a:t>
            </a:r>
            <a:endParaRPr lang="ar-SA" sz="1300" dirty="0"/>
          </a:p>
        </p:txBody>
      </p:sp>
      <p:sp>
        <p:nvSpPr>
          <p:cNvPr id="5" name="Shape 3"/>
          <p:cNvSpPr/>
          <p:nvPr/>
        </p:nvSpPr>
        <p:spPr>
          <a:xfrm>
            <a:off x="609448" y="2103120"/>
            <a:ext cx="3383280" cy="3200400"/>
          </a:xfrm>
          <a:prstGeom prst="roundRect">
            <a:avLst>
              <a:gd name="adj" fmla="val 2286"/>
            </a:avLst>
          </a:prstGeom>
          <a:solidFill>
            <a:srgbClr val="2E2F36"/>
          </a:solidFill>
          <a:ln/>
        </p:spPr>
      </p:sp>
      <p:sp>
        <p:nvSpPr>
          <p:cNvPr id="6" name="Text 4"/>
          <p:cNvSpPr/>
          <p:nvPr/>
        </p:nvSpPr>
        <p:spPr>
          <a:xfrm>
            <a:off x="883768" y="239572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83768" y="297180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اشتراكات الأعضاء</a:t>
            </a:r>
            <a:endParaRPr lang="ar-SA" sz="1700" dirty="0"/>
          </a:p>
        </p:txBody>
      </p:sp>
      <p:sp>
        <p:nvSpPr>
          <p:cNvPr id="8" name="Text 6"/>
          <p:cNvSpPr/>
          <p:nvPr/>
        </p:nvSpPr>
        <p:spPr>
          <a:xfrm>
            <a:off x="883768" y="3657600"/>
            <a:ext cx="2834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دخل متكرّر شهري/سنوي يدفعه المتدرّب عبر PaymentSheet الآمن.</a:t>
            </a:r>
            <a:endParaRPr lang="ar-SA" sz="1300" dirty="0"/>
          </a:p>
        </p:txBody>
      </p:sp>
      <p:sp>
        <p:nvSpPr>
          <p:cNvPr id="9" name="Shape 7"/>
          <p:cNvSpPr/>
          <p:nvPr/>
        </p:nvSpPr>
        <p:spPr>
          <a:xfrm>
            <a:off x="4404208" y="2103120"/>
            <a:ext cx="3383280" cy="3200400"/>
          </a:xfrm>
          <a:prstGeom prst="roundRect">
            <a:avLst>
              <a:gd name="adj" fmla="val 2286"/>
            </a:avLst>
          </a:prstGeom>
          <a:solidFill>
            <a:srgbClr val="2E2F36"/>
          </a:solidFill>
          <a:ln/>
        </p:spPr>
      </p:sp>
      <p:sp>
        <p:nvSpPr>
          <p:cNvPr id="10" name="Text 8"/>
          <p:cNvSpPr/>
          <p:nvPr/>
        </p:nvSpPr>
        <p:spPr>
          <a:xfrm>
            <a:off x="4678528" y="239572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COMMISSIONS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78528" y="297180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عمولات وفواتير</a:t>
            </a:r>
            <a:endParaRPr lang="ar-SA" sz="1700" dirty="0"/>
          </a:p>
        </p:txBody>
      </p:sp>
      <p:sp>
        <p:nvSpPr>
          <p:cNvPr id="12" name="Text 10"/>
          <p:cNvSpPr/>
          <p:nvPr/>
        </p:nvSpPr>
        <p:spPr>
          <a:xfrm>
            <a:off x="4678528" y="3657600"/>
            <a:ext cx="2834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طبقة عمولات وفواتير بين المنصّة والصالات والمدرّبين.</a:t>
            </a:r>
            <a:endParaRPr lang="ar-SA" sz="1300" dirty="0"/>
          </a:p>
        </p:txBody>
      </p:sp>
      <p:sp>
        <p:nvSpPr>
          <p:cNvPr id="13" name="Shape 11"/>
          <p:cNvSpPr/>
          <p:nvPr/>
        </p:nvSpPr>
        <p:spPr>
          <a:xfrm>
            <a:off x="8198968" y="2103120"/>
            <a:ext cx="3383280" cy="3200400"/>
          </a:xfrm>
          <a:prstGeom prst="roundRect">
            <a:avLst>
              <a:gd name="adj" fmla="val 2286"/>
            </a:avLst>
          </a:prstGeom>
          <a:solidFill>
            <a:srgbClr val="2E2F36"/>
          </a:solidFill>
          <a:ln/>
        </p:spPr>
      </p:sp>
      <p:sp>
        <p:nvSpPr>
          <p:cNvPr id="14" name="Text 12"/>
          <p:cNvSpPr/>
          <p:nvPr/>
        </p:nvSpPr>
        <p:spPr>
          <a:xfrm>
            <a:off x="8473288" y="239572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473288" y="297180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توسّع B2B2C</a:t>
            </a:r>
            <a:endParaRPr lang="ar-SA" sz="1700" dirty="0"/>
          </a:p>
        </p:txBody>
      </p:sp>
      <p:sp>
        <p:nvSpPr>
          <p:cNvPr id="16" name="Text 14"/>
          <p:cNvSpPr/>
          <p:nvPr/>
        </p:nvSpPr>
        <p:spPr>
          <a:xfrm>
            <a:off x="8473288" y="3657600"/>
            <a:ext cx="2834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صالة جديدة = إيراد جديد على نفس البنية دون تكلفة إضافية تُذكر.</a:t>
            </a:r>
            <a:endParaRPr lang="ar-SA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576072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250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العمليات المالية تُنفَّذ على الخادم (Cloud Functions) — أمان أعلى وموثوقية أكبر.</a:t>
            </a:r>
            <a:endParaRPr lang="ar-SA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E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08857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000" b="1" dirty="0">
                <a:solidFill>
                  <a:srgbClr val="7E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ar-SA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40719" y="56692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39D98A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384048"/>
            <a:ext cx="99971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قيمة للأعمال</a:t>
            </a:r>
            <a:endParaRPr lang="ar-SA" sz="3000" dirty="0"/>
          </a:p>
        </p:txBody>
      </p:sp>
      <p:sp>
        <p:nvSpPr>
          <p:cNvPr id="4" name="Text 2"/>
          <p:cNvSpPr/>
          <p:nvPr/>
        </p:nvSpPr>
        <p:spPr>
          <a:xfrm>
            <a:off x="1097280" y="1024128"/>
            <a:ext cx="99971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لوحات تحكم تدير الصالة بالكامل</a:t>
            </a:r>
            <a:endParaRPr lang="ar-SA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272888" cy="4023360"/>
          </a:xfrm>
          <a:prstGeom prst="roundRect">
            <a:avLst>
              <a:gd name="adj" fmla="val 1818"/>
            </a:avLst>
          </a:prstGeom>
          <a:solidFill>
            <a:srgbClr val="26262C"/>
          </a:solidFill>
          <a:ln/>
        </p:spPr>
      </p:sp>
      <p:sp>
        <p:nvSpPr>
          <p:cNvPr id="6" name="Shape 4"/>
          <p:cNvSpPr/>
          <p:nvPr/>
        </p:nvSpPr>
        <p:spPr>
          <a:xfrm>
            <a:off x="6278728" y="1828800"/>
            <a:ext cx="5272888" cy="4023360"/>
          </a:xfrm>
          <a:prstGeom prst="roundRect">
            <a:avLst>
              <a:gd name="adj" fmla="val 1818"/>
            </a:avLst>
          </a:prstGeom>
          <a:solidFill>
            <a:srgbClr val="26262C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103120"/>
            <a:ext cx="4541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إدارة الصالة</a:t>
            </a:r>
            <a:endParaRPr lang="ar-SA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2697480"/>
            <a:ext cx="4541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نظرة عامة وإدارة الأعضاء</a:t>
            </a:r>
            <a:endParaRPr lang="ar-SA" sz="1350" dirty="0"/>
          </a:p>
        </p:txBody>
      </p:sp>
      <p:sp>
        <p:nvSpPr>
          <p:cNvPr id="9" name="Text 7"/>
          <p:cNvSpPr/>
          <p:nvPr/>
        </p:nvSpPr>
        <p:spPr>
          <a:xfrm>
            <a:off x="1005840" y="3264408"/>
            <a:ext cx="4541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تسجيل الحضور (Check-in)</a:t>
            </a:r>
            <a:endParaRPr lang="ar-SA" sz="1350" dirty="0"/>
          </a:p>
        </p:txBody>
      </p:sp>
      <p:sp>
        <p:nvSpPr>
          <p:cNvPr id="10" name="Text 8"/>
          <p:cNvSpPr/>
          <p:nvPr/>
        </p:nvSpPr>
        <p:spPr>
          <a:xfrm>
            <a:off x="1005840" y="3831336"/>
            <a:ext cx="4541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الشؤون المالية والمصاريف</a:t>
            </a:r>
            <a:endParaRPr lang="ar-SA" sz="1350" dirty="0"/>
          </a:p>
        </p:txBody>
      </p:sp>
      <p:sp>
        <p:nvSpPr>
          <p:cNvPr id="11" name="Text 9"/>
          <p:cNvSpPr/>
          <p:nvPr/>
        </p:nvSpPr>
        <p:spPr>
          <a:xfrm>
            <a:off x="1005840" y="4398264"/>
            <a:ext cx="4541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خطط الاشتراك والإشعارات</a:t>
            </a:r>
            <a:endParaRPr lang="ar-SA" sz="1350" dirty="0"/>
          </a:p>
        </p:txBody>
      </p:sp>
      <p:sp>
        <p:nvSpPr>
          <p:cNvPr id="12" name="Text 10"/>
          <p:cNvSpPr/>
          <p:nvPr/>
        </p:nvSpPr>
        <p:spPr>
          <a:xfrm>
            <a:off x="1005840" y="4965192"/>
            <a:ext cx="4541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استيراد الأعضاء من Excel</a:t>
            </a:r>
            <a:endParaRPr lang="ar-SA" sz="1350" dirty="0"/>
          </a:p>
        </p:txBody>
      </p:sp>
      <p:sp>
        <p:nvSpPr>
          <p:cNvPr id="13" name="Text 11"/>
          <p:cNvSpPr/>
          <p:nvPr/>
        </p:nvSpPr>
        <p:spPr>
          <a:xfrm>
            <a:off x="6644488" y="2103120"/>
            <a:ext cx="4541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المشرف العام</a:t>
            </a:r>
            <a:endParaRPr lang="ar-SA" sz="1800" dirty="0"/>
          </a:p>
        </p:txBody>
      </p:sp>
      <p:sp>
        <p:nvSpPr>
          <p:cNvPr id="14" name="Text 12"/>
          <p:cNvSpPr/>
          <p:nvPr/>
        </p:nvSpPr>
        <p:spPr>
          <a:xfrm>
            <a:off x="6644488" y="2697480"/>
            <a:ext cx="4541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إنشاء وإدارة جميع الصالات</a:t>
            </a:r>
            <a:endParaRPr lang="ar-SA" sz="1350" dirty="0"/>
          </a:p>
        </p:txBody>
      </p:sp>
      <p:sp>
        <p:nvSpPr>
          <p:cNvPr id="15" name="Text 13"/>
          <p:cNvSpPr/>
          <p:nvPr/>
        </p:nvSpPr>
        <p:spPr>
          <a:xfrm>
            <a:off x="6644488" y="3264408"/>
            <a:ext cx="4541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عرض تفاصيل وحالة كل صالة</a:t>
            </a:r>
            <a:endParaRPr lang="ar-SA" sz="1350" dirty="0"/>
          </a:p>
        </p:txBody>
      </p:sp>
      <p:sp>
        <p:nvSpPr>
          <p:cNvPr id="16" name="Text 14"/>
          <p:cNvSpPr/>
          <p:nvPr/>
        </p:nvSpPr>
        <p:spPr>
          <a:xfrm>
            <a:off x="6644488" y="3831336"/>
            <a:ext cx="4541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رسائل جماعية لكل المستخدمين</a:t>
            </a:r>
            <a:endParaRPr lang="ar-SA" sz="1350" dirty="0"/>
          </a:p>
        </p:txBody>
      </p:sp>
      <p:sp>
        <p:nvSpPr>
          <p:cNvPr id="17" name="Text 15"/>
          <p:cNvSpPr/>
          <p:nvPr/>
        </p:nvSpPr>
        <p:spPr>
          <a:xfrm>
            <a:off x="6644488" y="4398264"/>
            <a:ext cx="4541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متابعة الفواتير والعمولات</a:t>
            </a:r>
            <a:endParaRPr lang="ar-SA" sz="1350" dirty="0"/>
          </a:p>
        </p:txBody>
      </p:sp>
      <p:sp>
        <p:nvSpPr>
          <p:cNvPr id="18" name="Text 16"/>
          <p:cNvSpPr/>
          <p:nvPr/>
        </p:nvSpPr>
        <p:spPr>
          <a:xfrm>
            <a:off x="6644488" y="4965192"/>
            <a:ext cx="4541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تحكّم مركزي بالمنصّة</a:t>
            </a:r>
            <a:endParaRPr lang="ar-SA" sz="1350" dirty="0"/>
          </a:p>
        </p:txBody>
      </p:sp>
      <p:sp>
        <p:nvSpPr>
          <p:cNvPr id="19" name="Text 17"/>
          <p:cNvSpPr/>
          <p:nvPr/>
        </p:nvSpPr>
        <p:spPr>
          <a:xfrm>
            <a:off x="548640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E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08857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000" b="1" dirty="0">
                <a:solidFill>
                  <a:srgbClr val="7E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ar-SA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40719" y="56692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39D98A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384048"/>
            <a:ext cx="99971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بنية تقنية حديثة</a:t>
            </a:r>
            <a:endParaRPr lang="ar-SA" sz="3000" dirty="0"/>
          </a:p>
        </p:txBody>
      </p:sp>
      <p:sp>
        <p:nvSpPr>
          <p:cNvPr id="4" name="Text 2"/>
          <p:cNvSpPr/>
          <p:nvPr/>
        </p:nvSpPr>
        <p:spPr>
          <a:xfrm>
            <a:off x="1097280" y="1024128"/>
            <a:ext cx="99971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شيفرة واحدة لـ iOS و Android</a:t>
            </a:r>
            <a:endParaRPr lang="ar-SA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3454298" cy="1783080"/>
          </a:xfrm>
          <a:prstGeom prst="roundRect">
            <a:avLst>
              <a:gd name="adj" fmla="val 4103"/>
            </a:avLst>
          </a:prstGeom>
          <a:solidFill>
            <a:srgbClr val="26262C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194560"/>
            <a:ext cx="281421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" y="2834640"/>
            <a:ext cx="281421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إطار العمل عبر المنصّات</a:t>
            </a:r>
            <a:endParaRPr lang="ar-SA" sz="1250" dirty="0"/>
          </a:p>
        </p:txBody>
      </p:sp>
      <p:sp>
        <p:nvSpPr>
          <p:cNvPr id="8" name="Shape 6"/>
          <p:cNvSpPr/>
          <p:nvPr/>
        </p:nvSpPr>
        <p:spPr>
          <a:xfrm>
            <a:off x="4368698" y="1874520"/>
            <a:ext cx="3454298" cy="1783080"/>
          </a:xfrm>
          <a:prstGeom prst="roundRect">
            <a:avLst>
              <a:gd name="adj" fmla="val 4103"/>
            </a:avLst>
          </a:prstGeom>
          <a:solidFill>
            <a:srgbClr val="26262C"/>
          </a:solidFill>
          <a:ln/>
        </p:spPr>
      </p:sp>
      <p:sp>
        <p:nvSpPr>
          <p:cNvPr id="9" name="Text 7"/>
          <p:cNvSpPr/>
          <p:nvPr/>
        </p:nvSpPr>
        <p:spPr>
          <a:xfrm>
            <a:off x="4688738" y="2194560"/>
            <a:ext cx="281421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688738" y="2834640"/>
            <a:ext cx="281421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مصادقة، قاعدة بيانات، دوال سحابية</a:t>
            </a:r>
            <a:endParaRPr lang="ar-SA" sz="1250" dirty="0"/>
          </a:p>
        </p:txBody>
      </p:sp>
      <p:sp>
        <p:nvSpPr>
          <p:cNvPr id="11" name="Shape 9"/>
          <p:cNvSpPr/>
          <p:nvPr/>
        </p:nvSpPr>
        <p:spPr>
          <a:xfrm>
            <a:off x="8097317" y="1874520"/>
            <a:ext cx="3454298" cy="1783080"/>
          </a:xfrm>
          <a:prstGeom prst="roundRect">
            <a:avLst>
              <a:gd name="adj" fmla="val 4103"/>
            </a:avLst>
          </a:prstGeom>
          <a:solidFill>
            <a:srgbClr val="26262C"/>
          </a:solidFill>
          <a:ln/>
        </p:spPr>
      </p:sp>
      <p:sp>
        <p:nvSpPr>
          <p:cNvPr id="12" name="Text 10"/>
          <p:cNvSpPr/>
          <p:nvPr/>
        </p:nvSpPr>
        <p:spPr>
          <a:xfrm>
            <a:off x="8417357" y="2194560"/>
            <a:ext cx="281421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Riverpod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417357" y="2834640"/>
            <a:ext cx="281421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إدارة الحالة</a:t>
            </a:r>
            <a:endParaRPr lang="ar-SA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840480"/>
            <a:ext cx="3454298" cy="1783080"/>
          </a:xfrm>
          <a:prstGeom prst="roundRect">
            <a:avLst>
              <a:gd name="adj" fmla="val 4103"/>
            </a:avLst>
          </a:prstGeom>
          <a:solidFill>
            <a:srgbClr val="26262C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4160520"/>
            <a:ext cx="281421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60120" y="4800600"/>
            <a:ext cx="281421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المدفوعات</a:t>
            </a:r>
            <a:endParaRPr lang="ar-SA" sz="1250" dirty="0"/>
          </a:p>
        </p:txBody>
      </p:sp>
      <p:sp>
        <p:nvSpPr>
          <p:cNvPr id="17" name="Shape 15"/>
          <p:cNvSpPr/>
          <p:nvPr/>
        </p:nvSpPr>
        <p:spPr>
          <a:xfrm>
            <a:off x="4368698" y="3840480"/>
            <a:ext cx="3454298" cy="1783080"/>
          </a:xfrm>
          <a:prstGeom prst="roundRect">
            <a:avLst>
              <a:gd name="adj" fmla="val 4103"/>
            </a:avLst>
          </a:prstGeom>
          <a:solidFill>
            <a:srgbClr val="26262C"/>
          </a:solidFill>
          <a:ln/>
        </p:spPr>
      </p:sp>
      <p:sp>
        <p:nvSpPr>
          <p:cNvPr id="18" name="Text 16"/>
          <p:cNvSpPr/>
          <p:nvPr/>
        </p:nvSpPr>
        <p:spPr>
          <a:xfrm>
            <a:off x="4688738" y="4160520"/>
            <a:ext cx="281421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688738" y="4800600"/>
            <a:ext cx="281421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 الاصطناعي</a:t>
            </a:r>
            <a:endParaRPr lang="ar-SA" sz="1250" dirty="0"/>
          </a:p>
        </p:txBody>
      </p:sp>
      <p:sp>
        <p:nvSpPr>
          <p:cNvPr id="20" name="Shape 18"/>
          <p:cNvSpPr/>
          <p:nvPr/>
        </p:nvSpPr>
        <p:spPr>
          <a:xfrm>
            <a:off x="8097317" y="3840480"/>
            <a:ext cx="3454298" cy="1783080"/>
          </a:xfrm>
          <a:prstGeom prst="roundRect">
            <a:avLst>
              <a:gd name="adj" fmla="val 4103"/>
            </a:avLst>
          </a:prstGeom>
          <a:solidFill>
            <a:srgbClr val="26262C"/>
          </a:solidFill>
          <a:ln/>
        </p:spPr>
      </p:sp>
      <p:sp>
        <p:nvSpPr>
          <p:cNvPr id="21" name="Text 19"/>
          <p:cNvSpPr/>
          <p:nvPr/>
        </p:nvSpPr>
        <p:spPr>
          <a:xfrm>
            <a:off x="8417357" y="4160520"/>
            <a:ext cx="281421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Kit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417357" y="4800600"/>
            <a:ext cx="281421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تحليل الحركة</a:t>
            </a:r>
            <a:endParaRPr lang="ar-SA" sz="1250" dirty="0"/>
          </a:p>
        </p:txBody>
      </p:sp>
      <p:sp>
        <p:nvSpPr>
          <p:cNvPr id="23" name="Text 21"/>
          <p:cNvSpPr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250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معمارية feature-first منظّمة بطبقات data / domain / presentation.</a:t>
            </a:r>
            <a:endParaRPr lang="ar-SA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E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08857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000" b="1" dirty="0">
                <a:solidFill>
                  <a:srgbClr val="7E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ar-SA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40719" y="56692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39D98A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384048"/>
            <a:ext cx="99971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أمان من الدرجة الأولى</a:t>
            </a:r>
            <a:endParaRPr lang="ar-SA" sz="3000" dirty="0"/>
          </a:p>
        </p:txBody>
      </p:sp>
      <p:sp>
        <p:nvSpPr>
          <p:cNvPr id="4" name="Text 2"/>
          <p:cNvSpPr/>
          <p:nvPr/>
        </p:nvSpPr>
        <p:spPr>
          <a:xfrm>
            <a:off x="1097280" y="1024128"/>
            <a:ext cx="99971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طبقات حماية متعددة مدمجة</a:t>
            </a:r>
            <a:endParaRPr lang="ar-SA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3454298" cy="1783080"/>
          </a:xfrm>
          <a:prstGeom prst="roundRect">
            <a:avLst>
              <a:gd name="adj" fmla="val 4103"/>
            </a:avLst>
          </a:prstGeom>
          <a:solidFill>
            <a:srgbClr val="2E2F3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3055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2130552"/>
            <a:ext cx="24484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تثبيت الشهادات</a:t>
            </a:r>
            <a:endParaRPr lang="ar-SA" sz="1450" dirty="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290565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SSL Certificate Pinning ضد هجمات MITM</a:t>
            </a:r>
            <a:endParaRPr lang="ar-SA" sz="1200" dirty="0"/>
          </a:p>
        </p:txBody>
      </p:sp>
      <p:sp>
        <p:nvSpPr>
          <p:cNvPr id="9" name="Shape 7"/>
          <p:cNvSpPr/>
          <p:nvPr/>
        </p:nvSpPr>
        <p:spPr>
          <a:xfrm>
            <a:off x="4368698" y="1874520"/>
            <a:ext cx="3454298" cy="1783080"/>
          </a:xfrm>
          <a:prstGeom prst="roundRect">
            <a:avLst>
              <a:gd name="adj" fmla="val 4103"/>
            </a:avLst>
          </a:prstGeom>
          <a:solidFill>
            <a:srgbClr val="2E2F36"/>
          </a:solidFill>
          <a:ln/>
        </p:spPr>
      </p:sp>
      <p:sp>
        <p:nvSpPr>
          <p:cNvPr id="10" name="Text 8"/>
          <p:cNvSpPr/>
          <p:nvPr/>
        </p:nvSpPr>
        <p:spPr>
          <a:xfrm>
            <a:off x="4643018" y="213055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145938" y="2130552"/>
            <a:ext cx="24484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Check</a:t>
            </a:r>
            <a:endParaRPr lang="ar-SA" sz="1450" dirty="0"/>
          </a:p>
        </p:txBody>
      </p:sp>
      <p:sp>
        <p:nvSpPr>
          <p:cNvPr id="12" name="Text 10"/>
          <p:cNvSpPr/>
          <p:nvPr/>
        </p:nvSpPr>
        <p:spPr>
          <a:xfrm>
            <a:off x="4643018" y="2743200"/>
            <a:ext cx="290565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منع العملاء غير الموثوقين</a:t>
            </a:r>
            <a:endParaRPr lang="ar-SA" sz="1200" dirty="0"/>
          </a:p>
        </p:txBody>
      </p:sp>
      <p:sp>
        <p:nvSpPr>
          <p:cNvPr id="13" name="Shape 11"/>
          <p:cNvSpPr/>
          <p:nvPr/>
        </p:nvSpPr>
        <p:spPr>
          <a:xfrm>
            <a:off x="8097317" y="1874520"/>
            <a:ext cx="3454298" cy="1783080"/>
          </a:xfrm>
          <a:prstGeom prst="roundRect">
            <a:avLst>
              <a:gd name="adj" fmla="val 4103"/>
            </a:avLst>
          </a:prstGeom>
          <a:solidFill>
            <a:srgbClr val="2E2F36"/>
          </a:solidFill>
          <a:ln/>
        </p:spPr>
      </p:sp>
      <p:sp>
        <p:nvSpPr>
          <p:cNvPr id="14" name="Text 12"/>
          <p:cNvSpPr/>
          <p:nvPr/>
        </p:nvSpPr>
        <p:spPr>
          <a:xfrm>
            <a:off x="8371637" y="213055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874557" y="2130552"/>
            <a:ext cx="24484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حُرّاس الصلاحيات</a:t>
            </a:r>
            <a:endParaRPr lang="ar-SA" sz="1450" dirty="0"/>
          </a:p>
        </p:txBody>
      </p:sp>
      <p:sp>
        <p:nvSpPr>
          <p:cNvPr id="16" name="Text 14"/>
          <p:cNvSpPr/>
          <p:nvPr/>
        </p:nvSpPr>
        <p:spPr>
          <a:xfrm>
            <a:off x="8371637" y="2743200"/>
            <a:ext cx="290565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تحكّم بالوصول حسب دور المستخدم</a:t>
            </a:r>
            <a:endParaRPr lang="ar-SA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840480"/>
            <a:ext cx="3454298" cy="1783080"/>
          </a:xfrm>
          <a:prstGeom prst="roundRect">
            <a:avLst>
              <a:gd name="adj" fmla="val 4103"/>
            </a:avLst>
          </a:prstGeom>
          <a:solidFill>
            <a:srgbClr val="2E2F36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09651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17320" y="4096512"/>
            <a:ext cx="24484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مدفوعات على الخادم</a:t>
            </a:r>
            <a:endParaRPr lang="ar-SA" sz="1450" dirty="0"/>
          </a:p>
        </p:txBody>
      </p:sp>
      <p:sp>
        <p:nvSpPr>
          <p:cNvPr id="20" name="Text 18"/>
          <p:cNvSpPr/>
          <p:nvPr/>
        </p:nvSpPr>
        <p:spPr>
          <a:xfrm>
            <a:off x="914400" y="4709160"/>
            <a:ext cx="290565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العمليات المالية عبر Cloud Functions</a:t>
            </a:r>
            <a:endParaRPr lang="ar-SA" sz="1200" dirty="0"/>
          </a:p>
        </p:txBody>
      </p:sp>
      <p:sp>
        <p:nvSpPr>
          <p:cNvPr id="21" name="Shape 19"/>
          <p:cNvSpPr/>
          <p:nvPr/>
        </p:nvSpPr>
        <p:spPr>
          <a:xfrm>
            <a:off x="4368698" y="3840480"/>
            <a:ext cx="3454298" cy="1783080"/>
          </a:xfrm>
          <a:prstGeom prst="roundRect">
            <a:avLst>
              <a:gd name="adj" fmla="val 4103"/>
            </a:avLst>
          </a:prstGeom>
          <a:solidFill>
            <a:srgbClr val="2E2F36"/>
          </a:solidFill>
          <a:ln/>
        </p:spPr>
      </p:sp>
      <p:sp>
        <p:nvSpPr>
          <p:cNvPr id="22" name="Text 20"/>
          <p:cNvSpPr/>
          <p:nvPr/>
        </p:nvSpPr>
        <p:spPr>
          <a:xfrm>
            <a:off x="4643018" y="409651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145938" y="4096512"/>
            <a:ext cx="24484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إدارة المفاتيح</a:t>
            </a:r>
            <a:endParaRPr lang="ar-SA" sz="1450" dirty="0"/>
          </a:p>
        </p:txBody>
      </p:sp>
      <p:sp>
        <p:nvSpPr>
          <p:cNvPr id="24" name="Text 22"/>
          <p:cNvSpPr/>
          <p:nvPr/>
        </p:nvSpPr>
        <p:spPr>
          <a:xfrm>
            <a:off x="4643018" y="4709160"/>
            <a:ext cx="290565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أسرار عبر Remote Config لا في الشيفرة</a:t>
            </a:r>
            <a:endParaRPr lang="ar-SA" sz="1200" dirty="0"/>
          </a:p>
        </p:txBody>
      </p:sp>
      <p:sp>
        <p:nvSpPr>
          <p:cNvPr id="25" name="Shape 23"/>
          <p:cNvSpPr/>
          <p:nvPr/>
        </p:nvSpPr>
        <p:spPr>
          <a:xfrm>
            <a:off x="8097317" y="3840480"/>
            <a:ext cx="3454298" cy="1783080"/>
          </a:xfrm>
          <a:prstGeom prst="roundRect">
            <a:avLst>
              <a:gd name="adj" fmla="val 4103"/>
            </a:avLst>
          </a:prstGeom>
          <a:solidFill>
            <a:srgbClr val="2E2F36"/>
          </a:solidFill>
          <a:ln/>
        </p:spPr>
      </p:sp>
      <p:sp>
        <p:nvSpPr>
          <p:cNvPr id="26" name="Text 24"/>
          <p:cNvSpPr/>
          <p:nvPr/>
        </p:nvSpPr>
        <p:spPr>
          <a:xfrm>
            <a:off x="8371637" y="409651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874557" y="4096512"/>
            <a:ext cx="24484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رصد الأعطال</a:t>
            </a:r>
            <a:endParaRPr lang="ar-SA" sz="1450" dirty="0"/>
          </a:p>
        </p:txBody>
      </p:sp>
      <p:sp>
        <p:nvSpPr>
          <p:cNvPr id="28" name="Text 26"/>
          <p:cNvSpPr/>
          <p:nvPr/>
        </p:nvSpPr>
        <p:spPr>
          <a:xfrm>
            <a:off x="8371637" y="4709160"/>
            <a:ext cx="290565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Crashlytics وحدود أخطاء أنيقة</a:t>
            </a:r>
            <a:endParaRPr lang="ar-SA" sz="1200" dirty="0"/>
          </a:p>
        </p:txBody>
      </p:sp>
      <p:sp>
        <p:nvSpPr>
          <p:cNvPr id="29" name="Text 27"/>
          <p:cNvSpPr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250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يتضمّن المشروع تقرير اختبار اختراق داخلي ومراجعات شيفرة.</a:t>
            </a:r>
            <a:endParaRPr lang="ar-SA" sz="1250" dirty="0"/>
          </a:p>
        </p:txBody>
      </p:sp>
      <p:sp>
        <p:nvSpPr>
          <p:cNvPr id="30" name="Text 28"/>
          <p:cNvSpPr/>
          <p:nvPr/>
        </p:nvSpPr>
        <p:spPr>
          <a:xfrm>
            <a:off x="548640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E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08857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000" b="1" dirty="0">
                <a:solidFill>
                  <a:srgbClr val="7E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ar-SA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40719" y="56692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39D98A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384048"/>
            <a:ext cx="99971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جاهزية المنتج بالأرقام</a:t>
            </a:r>
            <a:endParaRPr lang="ar-SA" sz="3000" dirty="0"/>
          </a:p>
        </p:txBody>
      </p:sp>
      <p:sp>
        <p:nvSpPr>
          <p:cNvPr id="4" name="Text 2"/>
          <p:cNvSpPr/>
          <p:nvPr/>
        </p:nvSpPr>
        <p:spPr>
          <a:xfrm>
            <a:off x="1097280" y="1024128"/>
            <a:ext cx="99971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منتج مبنيّ وعامل — لا مجرد فكرة</a:t>
            </a:r>
            <a:endParaRPr lang="ar-SA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454298" cy="1783080"/>
          </a:xfrm>
          <a:prstGeom prst="roundRect">
            <a:avLst>
              <a:gd name="adj" fmla="val 4103"/>
            </a:avLst>
          </a:prstGeom>
          <a:solidFill>
            <a:srgbClr val="26262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94560"/>
            <a:ext cx="345429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186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30885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3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ملف Dart</a:t>
            </a:r>
            <a:endParaRPr lang="ar-SA" sz="1300" dirty="0"/>
          </a:p>
        </p:txBody>
      </p:sp>
      <p:sp>
        <p:nvSpPr>
          <p:cNvPr id="8" name="Shape 6"/>
          <p:cNvSpPr/>
          <p:nvPr/>
        </p:nvSpPr>
        <p:spPr>
          <a:xfrm>
            <a:off x="4368698" y="1920240"/>
            <a:ext cx="3454298" cy="1783080"/>
          </a:xfrm>
          <a:prstGeom prst="roundRect">
            <a:avLst>
              <a:gd name="adj" fmla="val 4103"/>
            </a:avLst>
          </a:prstGeom>
          <a:solidFill>
            <a:srgbClr val="26262C"/>
          </a:solidFill>
          <a:ln/>
        </p:spPr>
      </p:sp>
      <p:sp>
        <p:nvSpPr>
          <p:cNvPr id="9" name="Text 7"/>
          <p:cNvSpPr/>
          <p:nvPr/>
        </p:nvSpPr>
        <p:spPr>
          <a:xfrm>
            <a:off x="4368698" y="2194560"/>
            <a:ext cx="345429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88K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4551578" y="3063240"/>
            <a:ext cx="30885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3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سطر برمجي</a:t>
            </a:r>
            <a:endParaRPr lang="ar-SA" sz="1300" dirty="0"/>
          </a:p>
        </p:txBody>
      </p:sp>
      <p:sp>
        <p:nvSpPr>
          <p:cNvPr id="11" name="Shape 9"/>
          <p:cNvSpPr/>
          <p:nvPr/>
        </p:nvSpPr>
        <p:spPr>
          <a:xfrm>
            <a:off x="8097317" y="1920240"/>
            <a:ext cx="3454298" cy="1783080"/>
          </a:xfrm>
          <a:prstGeom prst="roundRect">
            <a:avLst>
              <a:gd name="adj" fmla="val 4103"/>
            </a:avLst>
          </a:prstGeom>
          <a:solidFill>
            <a:srgbClr val="26262C"/>
          </a:solidFill>
          <a:ln/>
        </p:spPr>
      </p:sp>
      <p:sp>
        <p:nvSpPr>
          <p:cNvPr id="12" name="Text 10"/>
          <p:cNvSpPr/>
          <p:nvPr/>
        </p:nvSpPr>
        <p:spPr>
          <a:xfrm>
            <a:off x="8097317" y="2194560"/>
            <a:ext cx="345429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8280197" y="3063240"/>
            <a:ext cx="30885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3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وحدة وظيفية</a:t>
            </a:r>
            <a:endParaRPr lang="ar-SA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886200"/>
            <a:ext cx="3454298" cy="1783080"/>
          </a:xfrm>
          <a:prstGeom prst="roundRect">
            <a:avLst>
              <a:gd name="adj" fmla="val 4103"/>
            </a:avLst>
          </a:prstGeom>
          <a:solidFill>
            <a:srgbClr val="26262C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160520"/>
            <a:ext cx="345429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822960" y="5029200"/>
            <a:ext cx="30885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3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شاشة وواجهة</a:t>
            </a:r>
            <a:endParaRPr lang="ar-SA" sz="1300" dirty="0"/>
          </a:p>
        </p:txBody>
      </p:sp>
      <p:sp>
        <p:nvSpPr>
          <p:cNvPr id="17" name="Shape 15"/>
          <p:cNvSpPr/>
          <p:nvPr/>
        </p:nvSpPr>
        <p:spPr>
          <a:xfrm>
            <a:off x="4368698" y="3886200"/>
            <a:ext cx="3454298" cy="1783080"/>
          </a:xfrm>
          <a:prstGeom prst="roundRect">
            <a:avLst>
              <a:gd name="adj" fmla="val 4103"/>
            </a:avLst>
          </a:prstGeom>
          <a:solidFill>
            <a:srgbClr val="26262C"/>
          </a:solidFill>
          <a:ln/>
        </p:spPr>
      </p:sp>
      <p:sp>
        <p:nvSpPr>
          <p:cNvPr id="18" name="Text 16"/>
          <p:cNvSpPr/>
          <p:nvPr/>
        </p:nvSpPr>
        <p:spPr>
          <a:xfrm>
            <a:off x="4368698" y="4160520"/>
            <a:ext cx="345429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30+</a:t>
            </a:r>
            <a:endParaRPr lang="en-US" sz="4600" dirty="0"/>
          </a:p>
        </p:txBody>
      </p:sp>
      <p:sp>
        <p:nvSpPr>
          <p:cNvPr id="19" name="Text 17"/>
          <p:cNvSpPr/>
          <p:nvPr/>
        </p:nvSpPr>
        <p:spPr>
          <a:xfrm>
            <a:off x="4551578" y="5029200"/>
            <a:ext cx="30885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3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مجموعة بيانات</a:t>
            </a:r>
            <a:endParaRPr lang="ar-SA" sz="1300" dirty="0"/>
          </a:p>
        </p:txBody>
      </p:sp>
      <p:sp>
        <p:nvSpPr>
          <p:cNvPr id="20" name="Shape 18"/>
          <p:cNvSpPr/>
          <p:nvPr/>
        </p:nvSpPr>
        <p:spPr>
          <a:xfrm>
            <a:off x="8097317" y="3886200"/>
            <a:ext cx="3454298" cy="1783080"/>
          </a:xfrm>
          <a:prstGeom prst="roundRect">
            <a:avLst>
              <a:gd name="adj" fmla="val 4103"/>
            </a:avLst>
          </a:prstGeom>
          <a:solidFill>
            <a:srgbClr val="26262C"/>
          </a:solidFill>
          <a:ln/>
        </p:spPr>
      </p:sp>
      <p:sp>
        <p:nvSpPr>
          <p:cNvPr id="21" name="Text 19"/>
          <p:cNvSpPr/>
          <p:nvPr/>
        </p:nvSpPr>
        <p:spPr>
          <a:xfrm>
            <a:off x="8097317" y="4160520"/>
            <a:ext cx="345429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600" dirty="0"/>
          </a:p>
        </p:txBody>
      </p:sp>
      <p:sp>
        <p:nvSpPr>
          <p:cNvPr id="22" name="Text 20"/>
          <p:cNvSpPr/>
          <p:nvPr/>
        </p:nvSpPr>
        <p:spPr>
          <a:xfrm>
            <a:off x="8280197" y="5029200"/>
            <a:ext cx="30885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3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لغة (عربي/إنجليزي)</a:t>
            </a:r>
            <a:endParaRPr lang="ar-SA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E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08857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000" b="1" dirty="0">
                <a:solidFill>
                  <a:srgbClr val="7E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ar-SA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40719" y="56692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39D98A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384048"/>
            <a:ext cx="99971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نيكسوس</a:t>
            </a:r>
            <a:endParaRPr lang="ar-SA" sz="3000" dirty="0"/>
          </a:p>
        </p:txBody>
      </p:sp>
      <p:sp>
        <p:nvSpPr>
          <p:cNvPr id="4" name="Text 2"/>
          <p:cNvSpPr/>
          <p:nvPr/>
        </p:nvSpPr>
        <p:spPr>
          <a:xfrm>
            <a:off x="1097280" y="1024128"/>
            <a:ext cx="99971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ميزات تنافسية يصعب تقليدها</a:t>
            </a:r>
            <a:endParaRPr lang="ar-SA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272888" cy="1828800"/>
          </a:xfrm>
          <a:prstGeom prst="roundRect">
            <a:avLst>
              <a:gd name="adj" fmla="val 4000"/>
            </a:avLst>
          </a:prstGeom>
          <a:solidFill>
            <a:srgbClr val="26262C"/>
          </a:solidFill>
          <a:ln/>
        </p:spPr>
      </p:sp>
      <p:sp>
        <p:nvSpPr>
          <p:cNvPr id="6" name="Shape 4"/>
          <p:cNvSpPr/>
          <p:nvPr/>
        </p:nvSpPr>
        <p:spPr>
          <a:xfrm>
            <a:off x="5044288" y="2084832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39D98A"/>
          </a:solidFill>
          <a:ln/>
        </p:spPr>
      </p:sp>
      <p:sp>
        <p:nvSpPr>
          <p:cNvPr id="7" name="Text 5"/>
          <p:cNvSpPr/>
          <p:nvPr/>
        </p:nvSpPr>
        <p:spPr>
          <a:xfrm>
            <a:off x="5044288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103120"/>
            <a:ext cx="3992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شامل حقًا</a:t>
            </a:r>
            <a:endParaRPr lang="ar-SA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697480"/>
            <a:ext cx="463280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All-in-one: إدارة + تدريب + تغذية + دفع في منتج واحد، لا أدوات مبعثرة.</a:t>
            </a:r>
            <a:endParaRPr lang="ar-SA" sz="1300" dirty="0"/>
          </a:p>
        </p:txBody>
      </p:sp>
      <p:sp>
        <p:nvSpPr>
          <p:cNvPr id="10" name="Shape 8"/>
          <p:cNvSpPr/>
          <p:nvPr/>
        </p:nvSpPr>
        <p:spPr>
          <a:xfrm>
            <a:off x="6278728" y="1828800"/>
            <a:ext cx="5272888" cy="1828800"/>
          </a:xfrm>
          <a:prstGeom prst="roundRect">
            <a:avLst>
              <a:gd name="adj" fmla="val 4000"/>
            </a:avLst>
          </a:prstGeom>
          <a:solidFill>
            <a:srgbClr val="26262C"/>
          </a:solidFill>
          <a:ln/>
        </p:spPr>
      </p:sp>
      <p:sp>
        <p:nvSpPr>
          <p:cNvPr id="11" name="Shape 9"/>
          <p:cNvSpPr/>
          <p:nvPr/>
        </p:nvSpPr>
        <p:spPr>
          <a:xfrm>
            <a:off x="10682935" y="2084832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39D98A"/>
          </a:solidFill>
          <a:ln/>
        </p:spPr>
      </p:sp>
      <p:sp>
        <p:nvSpPr>
          <p:cNvPr id="12" name="Text 10"/>
          <p:cNvSpPr/>
          <p:nvPr/>
        </p:nvSpPr>
        <p:spPr>
          <a:xfrm>
            <a:off x="10682935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98768" y="2103120"/>
            <a:ext cx="3992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AI-native</a:t>
            </a:r>
            <a:endParaRPr lang="ar-SA" sz="1600" dirty="0"/>
          </a:p>
        </p:txBody>
      </p:sp>
      <p:sp>
        <p:nvSpPr>
          <p:cNvPr id="14" name="Text 12"/>
          <p:cNvSpPr/>
          <p:nvPr/>
        </p:nvSpPr>
        <p:spPr>
          <a:xfrm>
            <a:off x="6598768" y="2697480"/>
            <a:ext cx="463280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 الاصطناعي في الجوهر لا إضافة لاحقة — تحليل أداء وطعام وقياسات.</a:t>
            </a:r>
            <a:endParaRPr lang="ar-SA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886200"/>
            <a:ext cx="5272888" cy="1828800"/>
          </a:xfrm>
          <a:prstGeom prst="roundRect">
            <a:avLst>
              <a:gd name="adj" fmla="val 4000"/>
            </a:avLst>
          </a:prstGeom>
          <a:solidFill>
            <a:srgbClr val="26262C"/>
          </a:solidFill>
          <a:ln/>
        </p:spPr>
      </p:sp>
      <p:sp>
        <p:nvSpPr>
          <p:cNvPr id="16" name="Shape 14"/>
          <p:cNvSpPr/>
          <p:nvPr/>
        </p:nvSpPr>
        <p:spPr>
          <a:xfrm>
            <a:off x="5044288" y="4142232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39D98A"/>
          </a:solidFill>
          <a:ln/>
        </p:spPr>
      </p:sp>
      <p:sp>
        <p:nvSpPr>
          <p:cNvPr id="17" name="Text 15"/>
          <p:cNvSpPr/>
          <p:nvPr/>
        </p:nvSpPr>
        <p:spPr>
          <a:xfrm>
            <a:off x="5044288" y="41422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0120" y="4160520"/>
            <a:ext cx="3992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عربي أولًا</a:t>
            </a:r>
            <a:endParaRPr lang="ar-SA" sz="1600" dirty="0"/>
          </a:p>
        </p:txBody>
      </p:sp>
      <p:sp>
        <p:nvSpPr>
          <p:cNvPr id="19" name="Text 17"/>
          <p:cNvSpPr/>
          <p:nvPr/>
        </p:nvSpPr>
        <p:spPr>
          <a:xfrm>
            <a:off x="960120" y="4754880"/>
            <a:ext cx="463280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تجربة ثنائية اللغة كاملة بدعم RTL — سوق غالبًا مُهمَل.</a:t>
            </a:r>
            <a:endParaRPr lang="ar-SA" sz="1300" dirty="0"/>
          </a:p>
        </p:txBody>
      </p:sp>
      <p:sp>
        <p:nvSpPr>
          <p:cNvPr id="20" name="Shape 18"/>
          <p:cNvSpPr/>
          <p:nvPr/>
        </p:nvSpPr>
        <p:spPr>
          <a:xfrm>
            <a:off x="6278728" y="3886200"/>
            <a:ext cx="5272888" cy="1828800"/>
          </a:xfrm>
          <a:prstGeom prst="roundRect">
            <a:avLst>
              <a:gd name="adj" fmla="val 4000"/>
            </a:avLst>
          </a:prstGeom>
          <a:solidFill>
            <a:srgbClr val="26262C"/>
          </a:solidFill>
          <a:ln/>
        </p:spPr>
      </p:sp>
      <p:sp>
        <p:nvSpPr>
          <p:cNvPr id="21" name="Shape 19"/>
          <p:cNvSpPr/>
          <p:nvPr/>
        </p:nvSpPr>
        <p:spPr>
          <a:xfrm>
            <a:off x="10682935" y="4142232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39D98A"/>
          </a:solidFill>
          <a:ln/>
        </p:spPr>
      </p:sp>
      <p:sp>
        <p:nvSpPr>
          <p:cNvPr id="22" name="Text 20"/>
          <p:cNvSpPr/>
          <p:nvPr/>
        </p:nvSpPr>
        <p:spPr>
          <a:xfrm>
            <a:off x="10682935" y="41422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598768" y="4160520"/>
            <a:ext cx="3992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جاهز ومبني</a:t>
            </a:r>
            <a:endParaRPr lang="ar-SA" sz="1600" dirty="0"/>
          </a:p>
        </p:txBody>
      </p:sp>
      <p:sp>
        <p:nvSpPr>
          <p:cNvPr id="24" name="Text 22"/>
          <p:cNvSpPr/>
          <p:nvPr/>
        </p:nvSpPr>
        <p:spPr>
          <a:xfrm>
            <a:off x="6598768" y="4754880"/>
            <a:ext cx="463280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بنية حديثة وأمان قوي ومنتج فعلي قابل للنشر اليوم.</a:t>
            </a:r>
            <a:endParaRPr lang="ar-SA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E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08857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000" b="1" dirty="0">
                <a:solidFill>
                  <a:srgbClr val="7E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ar-SA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40719" y="56692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39D98A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384048"/>
            <a:ext cx="99971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خارطة الطريق</a:t>
            </a:r>
            <a:endParaRPr lang="ar-SA" sz="3000" dirty="0"/>
          </a:p>
        </p:txBody>
      </p:sp>
      <p:sp>
        <p:nvSpPr>
          <p:cNvPr id="4" name="Text 2"/>
          <p:cNvSpPr/>
          <p:nvPr/>
        </p:nvSpPr>
        <p:spPr>
          <a:xfrm>
            <a:off x="1097280" y="1024128"/>
            <a:ext cx="99971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الخطوات القادمة</a:t>
            </a:r>
            <a:endParaRPr lang="ar-SA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0911535" cy="868680"/>
          </a:xfrm>
          <a:prstGeom prst="roundRect">
            <a:avLst>
              <a:gd name="adj" fmla="val 8421"/>
            </a:avLst>
          </a:prstGeom>
          <a:solidFill>
            <a:srgbClr val="26262C"/>
          </a:solidFill>
          <a:ln/>
        </p:spPr>
      </p:sp>
      <p:sp>
        <p:nvSpPr>
          <p:cNvPr id="6" name="Shape 4"/>
          <p:cNvSpPr/>
          <p:nvPr/>
        </p:nvSpPr>
        <p:spPr>
          <a:xfrm>
            <a:off x="9859975" y="2075688"/>
            <a:ext cx="1325880" cy="475488"/>
          </a:xfrm>
          <a:prstGeom prst="roundRect">
            <a:avLst>
              <a:gd name="adj" fmla="val 19231"/>
            </a:avLst>
          </a:prstGeom>
          <a:solidFill>
            <a:srgbClr val="39D98A"/>
          </a:solidFill>
          <a:ln/>
        </p:spPr>
      </p:sp>
      <p:sp>
        <p:nvSpPr>
          <p:cNvPr id="7" name="Text 5"/>
          <p:cNvSpPr/>
          <p:nvPr/>
        </p:nvSpPr>
        <p:spPr>
          <a:xfrm>
            <a:off x="9859975" y="2075688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الآن</a:t>
            </a:r>
            <a:endParaRPr lang="ar-SA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874520"/>
            <a:ext cx="871697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نشر على App Store و Google Play بعد ضبط معرّف التطبيق.</a:t>
            </a:r>
            <a:endParaRPr lang="ar-SA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898648"/>
            <a:ext cx="10911535" cy="868680"/>
          </a:xfrm>
          <a:prstGeom prst="roundRect">
            <a:avLst>
              <a:gd name="adj" fmla="val 8421"/>
            </a:avLst>
          </a:prstGeom>
          <a:solidFill>
            <a:srgbClr val="26262C"/>
          </a:solidFill>
          <a:ln/>
        </p:spPr>
      </p:sp>
      <p:sp>
        <p:nvSpPr>
          <p:cNvPr id="10" name="Shape 8"/>
          <p:cNvSpPr/>
          <p:nvPr/>
        </p:nvSpPr>
        <p:spPr>
          <a:xfrm>
            <a:off x="9859975" y="3099816"/>
            <a:ext cx="1325880" cy="475488"/>
          </a:xfrm>
          <a:prstGeom prst="roundRect">
            <a:avLst>
              <a:gd name="adj" fmla="val 19231"/>
            </a:avLst>
          </a:prstGeom>
          <a:solidFill>
            <a:srgbClr val="39D98A"/>
          </a:solidFill>
          <a:ln/>
        </p:spPr>
      </p:sp>
      <p:sp>
        <p:nvSpPr>
          <p:cNvPr id="11" name="Text 9"/>
          <p:cNvSpPr/>
          <p:nvPr/>
        </p:nvSpPr>
        <p:spPr>
          <a:xfrm>
            <a:off x="9859975" y="3099816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قريبًا</a:t>
            </a:r>
            <a:endParaRPr lang="ar-SA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2898648"/>
            <a:ext cx="871697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تفعيل المصادقة الثنائية (2FA) وتعزيز لوحات التحليلات.</a:t>
            </a:r>
            <a:endParaRPr lang="ar-SA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922776"/>
            <a:ext cx="10911535" cy="868680"/>
          </a:xfrm>
          <a:prstGeom prst="roundRect">
            <a:avLst>
              <a:gd name="adj" fmla="val 8421"/>
            </a:avLst>
          </a:prstGeom>
          <a:solidFill>
            <a:srgbClr val="26262C"/>
          </a:solidFill>
          <a:ln/>
        </p:spPr>
      </p:sp>
      <p:sp>
        <p:nvSpPr>
          <p:cNvPr id="14" name="Shape 12"/>
          <p:cNvSpPr/>
          <p:nvPr/>
        </p:nvSpPr>
        <p:spPr>
          <a:xfrm>
            <a:off x="9859975" y="4123944"/>
            <a:ext cx="1325880" cy="475488"/>
          </a:xfrm>
          <a:prstGeom prst="roundRect">
            <a:avLst>
              <a:gd name="adj" fmla="val 19231"/>
            </a:avLst>
          </a:prstGeom>
          <a:solidFill>
            <a:srgbClr val="39D98A"/>
          </a:solidFill>
          <a:ln/>
        </p:spPr>
      </p:sp>
      <p:sp>
        <p:nvSpPr>
          <p:cNvPr id="15" name="Text 13"/>
          <p:cNvSpPr/>
          <p:nvPr/>
        </p:nvSpPr>
        <p:spPr>
          <a:xfrm>
            <a:off x="9859975" y="4123944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النمو</a:t>
            </a:r>
            <a:endParaRPr lang="ar-SA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3922776"/>
            <a:ext cx="871697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استقطاب صالات جديدة وشراكات، وتوسيع قاعدة المستخدمين.</a:t>
            </a:r>
            <a:endParaRPr lang="ar-SA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4946904"/>
            <a:ext cx="10911535" cy="868680"/>
          </a:xfrm>
          <a:prstGeom prst="roundRect">
            <a:avLst>
              <a:gd name="adj" fmla="val 8421"/>
            </a:avLst>
          </a:prstGeom>
          <a:solidFill>
            <a:srgbClr val="26262C"/>
          </a:solidFill>
          <a:ln/>
        </p:spPr>
      </p:sp>
      <p:sp>
        <p:nvSpPr>
          <p:cNvPr id="18" name="Shape 16"/>
          <p:cNvSpPr/>
          <p:nvPr/>
        </p:nvSpPr>
        <p:spPr>
          <a:xfrm>
            <a:off x="9859975" y="5148072"/>
            <a:ext cx="1325880" cy="475488"/>
          </a:xfrm>
          <a:prstGeom prst="roundRect">
            <a:avLst>
              <a:gd name="adj" fmla="val 19231"/>
            </a:avLst>
          </a:prstGeom>
          <a:solidFill>
            <a:srgbClr val="39D98A"/>
          </a:solidFill>
          <a:ln/>
        </p:spPr>
      </p:sp>
      <p:sp>
        <p:nvSpPr>
          <p:cNvPr id="19" name="Text 17"/>
          <p:cNvSpPr/>
          <p:nvPr/>
        </p:nvSpPr>
        <p:spPr>
          <a:xfrm>
            <a:off x="9859975" y="5148072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المستقبل</a:t>
            </a:r>
            <a:endParaRPr lang="ar-SA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4946904"/>
            <a:ext cx="871697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ميزات AI إضافية، تحليلات تنبّؤية، وتوسّع إقليمي.</a:t>
            </a:r>
            <a:endParaRPr lang="ar-SA" sz="1350" dirty="0"/>
          </a:p>
        </p:txBody>
      </p:sp>
      <p:sp>
        <p:nvSpPr>
          <p:cNvPr id="21" name="Text 19"/>
          <p:cNvSpPr/>
          <p:nvPr/>
        </p:nvSpPr>
        <p:spPr>
          <a:xfrm>
            <a:off x="548640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E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08857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000" b="1" dirty="0">
                <a:solidFill>
                  <a:srgbClr val="7E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ar-SA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6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12080" y="1371600"/>
            <a:ext cx="365760" cy="365760"/>
          </a:xfrm>
          <a:prstGeom prst="roundRect">
            <a:avLst>
              <a:gd name="adj" fmla="val 17500"/>
            </a:avLst>
          </a:prstGeom>
          <a:solidFill>
            <a:srgbClr val="39D98A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691640"/>
            <a:ext cx="12191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spc="5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0" y="288036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مستقبل إدارة اللياقة الرياضية</a:t>
            </a:r>
            <a:endParaRPr lang="ar-SA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365760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5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منصّة متكاملة، ذكية، وجاهزة للنمو — ننتظر شريكًا يؤمن بالرؤية.</a:t>
            </a:r>
            <a:endParaRPr lang="ar-SA" sz="1500" dirty="0"/>
          </a:p>
        </p:txBody>
      </p:sp>
      <p:sp>
        <p:nvSpPr>
          <p:cNvPr id="6" name="Text 4"/>
          <p:cNvSpPr/>
          <p:nvPr/>
        </p:nvSpPr>
        <p:spPr>
          <a:xfrm>
            <a:off x="0" y="493776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شكرًا</a:t>
            </a:r>
            <a:endParaRPr lang="ar-SA" sz="1800" dirty="0"/>
          </a:p>
        </p:txBody>
      </p:sp>
      <p:sp>
        <p:nvSpPr>
          <p:cNvPr id="7" name="Text 5"/>
          <p:cNvSpPr/>
          <p:nvPr/>
        </p:nvSpPr>
        <p:spPr>
          <a:xfrm>
            <a:off x="0" y="594360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E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abdalqader268@gmail.com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2026-06-28T14:12:14Z</dcterms:created>
  <dcterms:modified xsi:type="dcterms:W3CDTF">2026-06-28T14:12:14Z</dcterms:modified>
</cp:coreProperties>
</file>